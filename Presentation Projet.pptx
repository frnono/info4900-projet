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78" r:id="rId8"/>
    <p:sldId id="276" r:id="rId9"/>
    <p:sldId id="260" r:id="rId10"/>
    <p:sldId id="261" r:id="rId11"/>
    <p:sldId id="263" r:id="rId12"/>
    <p:sldId id="264" r:id="rId13"/>
    <p:sldId id="277" r:id="rId14"/>
    <p:sldId id="275" r:id="rId15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4C3EB-141B-80F1-3A42-9C9509956560}" v="201" dt="2025-12-08T13:22:21.444"/>
    <p1510:client id="{16E03BBB-2B44-97BC-C3BC-4E29E96F7876}" v="133" dt="2025-12-08T14:59:33.135"/>
    <p1510:client id="{2F0EB503-B825-DDD0-9207-603A8B53A4F1}" v="724" dt="2025-12-07T18:53:47.513"/>
    <p1510:client id="{4208A372-ACB1-D27E-8DF7-F298301C790E}" v="291" dt="2025-12-08T18:28:36.509"/>
    <p1510:client id="{801604F2-15EF-171B-8294-B68EB620A68A}" v="10" dt="2025-12-08T22:42:03.304"/>
    <p1510:client id="{91D762A9-B098-9E34-8251-D7FF25A7766F}" v="23" dt="2025-12-08T18:30:59.449"/>
    <p1510:client id="{A86F914C-8881-0382-91D8-A1B39E970237}" v="7" dt="2025-12-08T21:33:45.395"/>
    <p1510:client id="{B7E43314-BC75-522E-7E2F-6B50A3F868E3}" v="1" dt="2025-12-08T23:59:00.305"/>
    <p1510:client id="{B8243319-E447-781C-E21E-85005EFA71C7}" v="7" dt="2025-12-08T00:38:29.257"/>
    <p1510:client id="{EFBCC816-5399-C5C9-DF6D-2D496676DD8E}" v="3" dt="2025-12-08T20:47:30.919"/>
    <p1510:client id="{FBFD22AD-8A03-7472-76D8-ECE274ACBDC8}" v="355" dt="2025-12-08T21:30:33.603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pPr rtl="0"/>
            <a:fld id="{4D3A97BA-6711-49AD-AF73-F1F9395C09A1}" type="datetime1">
              <a:rPr lang="fr-FR" smtClean="0"/>
              <a:t>08/12/2025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37B95B5C-AE81-486B-8299-C690ADF087B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n-US"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n-US" sz="1200"/>
            </a:lvl1pPr>
          </a:lstStyle>
          <a:p>
            <a:pPr rtl="0"/>
            <a:fld id="{30A1210D-CF35-4D47-9279-19B3063561DC}" type="datetime1">
              <a:rPr lang="fr-FR" noProof="0" smtClean="0"/>
              <a:t>08/12/2025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n-US"/>
            </a:defPPr>
          </a:lstStyle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n-US"/>
            </a:def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n-US"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n-US" sz="1200"/>
            </a:lvl1pPr>
          </a:lstStyle>
          <a:p>
            <a:pPr rtl="0"/>
            <a:fld id="{6922D2F8-28A7-48E8-ADD3-E9583D47D83D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n-U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086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4527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695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279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718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479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n-US"/>
            </a:defPPr>
          </a:lstStyle>
          <a:p>
            <a:pPr rtl="0"/>
            <a:fld id="{6922D2F8-28A7-48E8-ADD3-E9583D47D83D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0430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rtlCol="0" anchor="b"/>
          <a:lstStyle>
            <a:lvl1pPr>
              <a:defRPr lang="en-US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l">
              <a:buNone/>
              <a:defRPr lang="en-US" sz="1800" i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 sommes-no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que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e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n-US" sz="16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’image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 rtlCol="0"/>
          <a:lstStyle>
            <a:lvl1pPr marL="0" indent="0" algn="ctr">
              <a:buFont typeface="+mj-lt"/>
              <a:buNone/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20" name="Espace réservé du pied de page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1" name="Espace réservé du numéro de diapositive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2" name="Espace réservé de la date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 problè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18" name="Espace réservé du texte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16" name="Espace réservé du texte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22" name="Espace réservé du texte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1" name="Espace réservé du pied de page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42" name="Espace réservé du numéro de diapositive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43" name="Espace réservé de la date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r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 rtlCol="0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6" name="Espace réservé du texte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0" name="Espace réservé du pied de page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1" name="Espace réservé du numéro de diapositive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2" name="Espace réservé de la date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  <p:sp>
        <p:nvSpPr>
          <p:cNvPr id="14" name="Espace réservé d’image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36" name="Espace réservé d’image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37" name="Espace réservé d’image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38" name="Espace réservé d’image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 du 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 rtlCol="0"/>
          <a:lstStyle>
            <a:lvl1pPr algn="l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8" name="Espace réservé du texte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57" name="Espace réservé du texte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64" name="Espace réservé du texte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63" name="Espace réservé du texte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67" name="Espace réservé du texte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66" name="Espace réservé du texte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pied de page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3" name="Espace réservé du numéro de diapositive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4" name="Espace réservé de la date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21" name="Espace réservé d’image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25" name="Espace réservé d’image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26" name="Espace réservé d’image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n-US" sz="105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 avantages du prod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lang="en-US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18" name="Espace réservé du pied de page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9" name="Espace réservé du numéro de diapositive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0" name="Espace réservé de la date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sépa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sme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 rtlCol="0"/>
          <a:lstStyle>
            <a:lvl1pPr algn="ctr">
              <a:defRPr lang="en-US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èle comme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r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0" name="Espace réservé du texte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texte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4" name="Espace réservé du texte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0" name="Espace réservé du pied de page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1" name="Espace réservé du numéro de diapositive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2" name="Espace réservé de la date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ésentation des opportunités du march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 rtlCol="0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en-US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en-US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27" name="Espace réservé du texte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rtlCol="0" anchor="b"/>
          <a:lstStyle>
            <a:lvl1pPr marL="0" indent="0" algn="l">
              <a:buNone/>
              <a:defRPr lang="en-US" sz="5400" b="1" kern="0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36" name="Espace réservé du texte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20" name="Espace réservé du pied de page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1" name="Espace réservé du numéro de diapositive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2" name="Espace réservé de la date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 des opportunités de march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que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 rtlCol="0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en-US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texte</a:t>
            </a:r>
          </a:p>
        </p:txBody>
      </p:sp>
      <p:sp>
        <p:nvSpPr>
          <p:cNvPr id="26" name="Espace réservé du texte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28" name="Espace réservé du texte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en-US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texte</a:t>
            </a:r>
          </a:p>
        </p:txBody>
      </p:sp>
      <p:sp>
        <p:nvSpPr>
          <p:cNvPr id="29" name="Espace réservé du texte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31" name="Espace réservé du texte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rtlCol="0" anchor="ctr"/>
          <a:lstStyle>
            <a:lvl1pPr marL="0" indent="0" algn="l">
              <a:buNone/>
              <a:defRPr lang="en-US" sz="54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texte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4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21" name="Espace réservé du pied de page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2" name="Espace réservé du numéro de diapositive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3" name="Espace réservé de la date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concurr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que 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 rtlCol="0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24" name="Espace réservé du texte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26" name="Espace réservé du texte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 rtlCol="0"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du texte ici</a:t>
            </a:r>
          </a:p>
        </p:txBody>
      </p:sp>
      <p:sp>
        <p:nvSpPr>
          <p:cNvPr id="21" name="Espace réservé du pied de page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2" name="Espace réservé du numéro de diapositive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3" name="Espace réservé de la date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 concurrence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40" name="Espace réservé du texte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800" b="1" cap="all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nom</a:t>
            </a:r>
          </a:p>
        </p:txBody>
      </p:sp>
      <p:sp>
        <p:nvSpPr>
          <p:cNvPr id="54" name="Espace réservé du texte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600" b="1" cap="all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49" name="Espace réservé du texte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38" name="Espace réservé du texte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44" name="Espace réservé du texte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800" b="1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nom</a:t>
            </a:r>
          </a:p>
        </p:txBody>
      </p:sp>
      <p:sp>
        <p:nvSpPr>
          <p:cNvPr id="42" name="Espace réservé du texte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800" b="1" cap="all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46" name="Espace réservé du texte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800" b="1" cap="all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34" name="Espace réservé du texte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0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nom</a:t>
            </a:r>
          </a:p>
        </p:txBody>
      </p:sp>
      <p:sp>
        <p:nvSpPr>
          <p:cNvPr id="48" name="Espace réservé du texte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800" b="1" cap="all" spc="200" baseline="0">
                <a:solidFill>
                  <a:schemeClr val="bg1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pied de page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22" name="Espace réservé du numéro de diapositive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23" name="Espace réservé de la date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égie de croiss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rtlCol="0" anchor="b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8" name="Espace réservé du texte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10" name="Espace réservé du texte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17" name="Espace réservé du texte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19" name="Espace réservé du texte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buNone/>
              <a:defRPr lang="en-US" sz="16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ici pour ajouter un nom</a:t>
            </a:r>
          </a:p>
        </p:txBody>
      </p:sp>
      <p:sp>
        <p:nvSpPr>
          <p:cNvPr id="20" name="Espace réservé du texte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1" name="Espace réservé du texte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22" name="Espace réservé du texte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pied de page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numéro de diapositive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4" name="Espace réservé de la date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que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rtlCol="0" anchor="b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0" name="Espace réservé du texte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800" cap="none" spc="20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sous-titre</a:t>
            </a:r>
          </a:p>
        </p:txBody>
      </p:sp>
      <p:sp>
        <p:nvSpPr>
          <p:cNvPr id="39" name="Espace réservé du texte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6" name="Espace réservé du texte 14">
            <a:extLst>
              <a:ext uri="{FF2B5EF4-FFF2-40B4-BE49-F238E27FC236}">
                <a16:creationId xmlns:a16="http://schemas.microsoft.com/office/drawing/2014/main" id="{EF233E3C-C99A-4345-9504-B06740BBA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83159" y="3186346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55" name="Espace réservé du texte 14">
            <a:extLst>
              <a:ext uri="{FF2B5EF4-FFF2-40B4-BE49-F238E27FC236}">
                <a16:creationId xmlns:a16="http://schemas.microsoft.com/office/drawing/2014/main" id="{406787F7-1112-4CC9-8FD0-D3583902DE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83159" y="3699738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54" name="Espace réservé du texte 14">
            <a:extLst>
              <a:ext uri="{FF2B5EF4-FFF2-40B4-BE49-F238E27FC236}">
                <a16:creationId xmlns:a16="http://schemas.microsoft.com/office/drawing/2014/main" id="{99FA8680-9A76-4984-9EF3-619FF82EF7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83159" y="4213130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53" name="Espace réservé du texte 14">
            <a:extLst>
              <a:ext uri="{FF2B5EF4-FFF2-40B4-BE49-F238E27FC236}">
                <a16:creationId xmlns:a16="http://schemas.microsoft.com/office/drawing/2014/main" id="{CB4D59B1-4953-4B1A-9812-770624E09F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83159" y="4726522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52" name="Espace réservé du texte 14">
            <a:extLst>
              <a:ext uri="{FF2B5EF4-FFF2-40B4-BE49-F238E27FC236}">
                <a16:creationId xmlns:a16="http://schemas.microsoft.com/office/drawing/2014/main" id="{95F87D86-6041-4E3C-BB75-D69D0BE78A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3159" y="5239913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82" name="Espace réservé du texte 14">
            <a:extLst>
              <a:ext uri="{FF2B5EF4-FFF2-40B4-BE49-F238E27FC236}">
                <a16:creationId xmlns:a16="http://schemas.microsoft.com/office/drawing/2014/main" id="{634E901B-B6DE-434D-897D-F1CBD4C850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83158" y="5757105"/>
            <a:ext cx="578977" cy="366359"/>
          </a:xfrm>
          <a:prstGeom prst="rect">
            <a:avLst/>
          </a:prstGeom>
          <a:ln>
            <a:noFill/>
          </a:ln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40" name="Espace réservé du texte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lang="en-US" sz="1600" b="1" cap="none" spc="2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24" name="Espace réservé du texte 14">
            <a:extLst>
              <a:ext uri="{FF2B5EF4-FFF2-40B4-BE49-F238E27FC236}">
                <a16:creationId xmlns:a16="http://schemas.microsoft.com/office/drawing/2014/main" id="{1205833E-1296-4429-98BC-86ED5E75B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6287" y="5930807"/>
            <a:ext cx="680833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4ADE2985-788D-4E06-BD6E-2DAB0780CC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3623" y="5930807"/>
            <a:ext cx="717943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26" name="Espace réservé du texte 14">
            <a:extLst>
              <a:ext uri="{FF2B5EF4-FFF2-40B4-BE49-F238E27FC236}">
                <a16:creationId xmlns:a16="http://schemas.microsoft.com/office/drawing/2014/main" id="{FAA1F6E3-EB96-4B94-BB57-05FD3C6316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8590" y="5929991"/>
            <a:ext cx="688462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A59FA224-FF57-40F3-9DE2-A9E5663CA4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4388" y="5929991"/>
            <a:ext cx="680835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B54D6B4E-0A06-4D7F-A784-E937A895E8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728" y="5929991"/>
            <a:ext cx="717942" cy="553488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SMS</a:t>
            </a: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CBAACD0B-92AC-4BB5-B2A1-E707BF046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93151" y="3356785"/>
            <a:ext cx="4296522" cy="2583500"/>
            <a:chOff x="6593151" y="3356785"/>
            <a:chExt cx="4296522" cy="2583500"/>
          </a:xfrm>
        </p:grpSpPr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5621DF36-2E24-4250-8EA9-A4F7384057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87397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46">
              <a:extLst>
                <a:ext uri="{FF2B5EF4-FFF2-40B4-BE49-F238E27FC236}">
                  <a16:creationId xmlns:a16="http://schemas.microsoft.com/office/drawing/2014/main" id="{519F31A0-FCE5-444A-9B67-BAD40A29F0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3567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32EB8C64-26D1-49F5-BA35-75904015FB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9402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97ED0880-E9DE-43CA-BBF7-379FADCCA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417240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0ECB90AC-2E9C-4DA6-9DE3-DC040D0710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908361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3D64C7F2-BB5D-48DC-9D4E-C23102C15F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39362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55D8F5-8A01-4257-9CE6-A1B977F3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6287" y="5431011"/>
            <a:ext cx="680833" cy="50136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1" name="Rectangle 10">
            <a:extLst>
              <a:ext uri="{FF2B5EF4-FFF2-40B4-BE49-F238E27FC236}">
                <a16:creationId xmlns:a16="http://schemas.microsoft.com/office/drawing/2014/main" id="{00F2C8F2-9655-45C9-AEF1-0F524E904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86167" y="4913817"/>
            <a:ext cx="680834" cy="101855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8165E-0BB4-4621-BC5C-EB2DDE22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6048" y="4396625"/>
            <a:ext cx="680835" cy="153493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4798AF-A852-4991-B42B-A74C23574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4388" y="3879433"/>
            <a:ext cx="680835" cy="205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21" name="Rectangle 20">
            <a:extLst>
              <a:ext uri="{FF2B5EF4-FFF2-40B4-BE49-F238E27FC236}">
                <a16:creationId xmlns:a16="http://schemas.microsoft.com/office/drawing/2014/main" id="{CBCA52D7-A558-4733-BD5C-28751C99A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75270" y="3362241"/>
            <a:ext cx="680836" cy="256931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2" name="Espace réservé du pied de page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numéro de diapositive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4" name="Espace réservé de la date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d’action bien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que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e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Connecteur droit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eur droit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eur droit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eur droit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necteur droit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eur droit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necteur droit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21" name="Espace réservé du texte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2" name="Espace réservé du texte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3" name="Espace réservé du texte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13" name="Espace réservé du texte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lang="en-US"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une année</a:t>
            </a:r>
          </a:p>
        </p:txBody>
      </p:sp>
      <p:sp>
        <p:nvSpPr>
          <p:cNvPr id="42" name="Espace réservé du texte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3" name="Espace réservé du texte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4" name="Espace réservé du texte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5" name="Espace réservé du texte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6" name="Espace réservé du texte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7" name="Espace réservé du texte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8" name="Espace réservé du texte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9" name="Espace réservé du texte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0" name="Espace réservé du texte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1" name="Espace réservé du texte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2" name="Espace réservé du texte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53" name="Espace réservé du texte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4" name="Espace réservé du texte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5" name="Espace réservé du texte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1" cap="none" spc="0" baseline="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6" name="Espace réservé du texte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14" name="Espace réservé du texte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 lang="en-US" sz="1800" b="1" cap="none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une année</a:t>
            </a:r>
          </a:p>
        </p:txBody>
      </p:sp>
      <p:sp>
        <p:nvSpPr>
          <p:cNvPr id="66" name="Espace réservé du texte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67" name="Espace réservé du texte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68" name="Espace réservé du texte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69" name="Espace réservé du texte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0" name="Espace réservé du texte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1" name="Espace réservé du texte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2" name="Espace réservé du texte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3" name="Espace réservé du texte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4" name="Espace réservé du texte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5" name="Espace réservé du texte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6" name="Espace réservé du texte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77" name="Espace réservé du texte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Connecteur droit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necteur droit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eur droit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eur droit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eur droit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Espace réservé du pied de page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97118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numéro de diapositive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4" name="Espace réservé de la date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51982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nnées financiè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que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 rtlCol="0"/>
          <a:lstStyle>
            <a:lvl1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1pPr>
            <a:lvl2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2pPr>
            <a:lvl3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3pPr>
            <a:lvl4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4pPr>
            <a:lvl5pPr>
              <a:defRPr lang="en-US">
                <a:solidFill>
                  <a:schemeClr val="bg1"/>
                </a:solidFill>
                <a:latin typeface="Calibri Light" panose="020F0302020204030204" pitchFamily="34" charset="0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Espace réservé du pied de page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numéro de diapositive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4" name="Espace réservé de la date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couvrez l’équipe 4-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377440"/>
            <a:ext cx="1939480" cy="2115505"/>
          </a:xfrm>
          <a:prstGeom prst="rect">
            <a:avLst/>
          </a:prstGeom>
        </p:spPr>
        <p:txBody>
          <a:bodyPr rtlCol="0" anchor="ctr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4" name="Espace réservé d’image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17" name="Espace réservé d’image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16" name="Espace réservé d’image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4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25" name="Espace réservé du texte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26" name="Espace réservé du texte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27" name="Espace réservé du texte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28" name="Espace réservé du texte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30" name="Espace réservé du texte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31" name="Espace réservé du texte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32" name="Espace réservé du texte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33" name="Espace réservé du texte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39" name="Espace réservé du pied de page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40" name="Espace réservé du numéro de diapositive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41" name="Espace réservé de la date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couvrez l’équipe 8-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112264"/>
          </a:xfrm>
          <a:prstGeom prst="rect">
            <a:avLst/>
          </a:prstGeom>
        </p:spPr>
        <p:txBody>
          <a:bodyPr rtlCol="0" anchor="ctr"/>
          <a:lstStyle>
            <a:lvl1pPr algn="ctr">
              <a:lnSpc>
                <a:spcPct val="90000"/>
              </a:lnSpc>
              <a:spcBef>
                <a:spcPts val="1000"/>
              </a:spcBef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34" name="Espace réservé d’image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81" name="Espace réservé d’image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85" name="Espace réservé d’image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87" name="Espace réservé d’image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41" name="Espace réservé du texte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42" name="Espace réservé du texte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43" name="Espace réservé du texte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44" name="Espace réservé du texte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45" name="Espace réservé du texte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46" name="Espace réservé du texte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47" name="Espace réservé du texte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48" name="Espace réservé du texte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97" name="Espace réservé d’image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99" name="Espace réservé d’image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101" name="Espace réservé d’image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pour ajouter une photo</a:t>
            </a:r>
          </a:p>
        </p:txBody>
      </p:sp>
      <p:sp>
        <p:nvSpPr>
          <p:cNvPr id="103" name="Espace réservé d’image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 rtlCol="0"/>
          <a:lstStyle>
            <a:lvl1pPr marL="0" indent="0" algn="ctr">
              <a:buNone/>
              <a:defRPr lang="en-US" sz="200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rtl="0"/>
            <a:r>
              <a:rPr lang="fr-FR" noProof="0"/>
              <a:t>Cliquez ici pour ajouter une photo</a:t>
            </a:r>
          </a:p>
        </p:txBody>
      </p:sp>
      <p:sp>
        <p:nvSpPr>
          <p:cNvPr id="73" name="Espace réservé du texte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74" name="Espace réservé du texte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75" name="Espace réservé du texte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76" name="Espace réservé du texte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77" name="Espace réservé du texte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78" name="Espace réservé du texte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79" name="Espace réservé du texte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200" b="1" cap="all" spc="2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nom</a:t>
            </a:r>
          </a:p>
        </p:txBody>
      </p:sp>
      <p:sp>
        <p:nvSpPr>
          <p:cNvPr id="80" name="Espace réservé du texte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10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82" name="Ovale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86" name="Ovale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88" name="Ovale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98" name="Ovale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02" name="Ovale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04" name="Ovale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</a:lstStyle>
          <a:p>
            <a:pPr algn="ctr" rtl="0"/>
            <a:endParaRPr lang="fr-FR" noProof="0">
              <a:latin typeface="Calibri Light" panose="020F0302020204030204" pitchFamily="34" charset="0"/>
            </a:endParaRPr>
          </a:p>
        </p:txBody>
      </p:sp>
      <p:sp>
        <p:nvSpPr>
          <p:cNvPr id="105" name="Espace réservé du pied de page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06" name="Espace réservé du numéro de diapositive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07" name="Espace réservé de la date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que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 rtlCol="0"/>
          <a:lstStyle>
            <a:lvl1pPr algn="ctr">
              <a:defRPr lang="en-US" sz="28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45" name="Espace réservé du texte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1" cap="all" spc="4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49" name="Espace réservé du texte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4000" b="1" cap="all" spc="4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47" name="Espace réservé du texte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4000" b="1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48" name="Espace réservé du texte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4000" b="1" cap="all" spc="4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Ajouter un titre</a:t>
            </a:r>
          </a:p>
        </p:txBody>
      </p:sp>
      <p:sp>
        <p:nvSpPr>
          <p:cNvPr id="37" name="Espace réservé du texte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cap="none" spc="200" baseline="0">
                <a:solidFill>
                  <a:schemeClr val="accent5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38" name="Espace réservé du texte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39" name="Espace réservé du texte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cap="none" spc="200" baseline="0">
                <a:solidFill>
                  <a:schemeClr val="accent6">
                    <a:lumMod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40" name="Espace réservé du texte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1" name="Espace réservé du texte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42" name="Espace réservé du texte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43" name="Espace réservé du texte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rtlCol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1" cap="none" spc="200" baseline="0">
                <a:solidFill>
                  <a:schemeClr val="accent3"/>
                </a:solidFill>
                <a:latin typeface="Century Gothic" panose="020B0502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</a:t>
            </a:r>
          </a:p>
        </p:txBody>
      </p:sp>
      <p:sp>
        <p:nvSpPr>
          <p:cNvPr id="44" name="Espace réservé du texte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 rtlCol="0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lang="en-US" sz="12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2" name="Espace réservé du pied de page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numéro de diapositive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4" name="Espace réservé de la date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ynthè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que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 rtlCol="0"/>
          <a:lstStyle>
            <a:lvl1pPr>
              <a:defRPr lang="en-US" sz="2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7" name="Espace réservé du texte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cap="none" spc="0" baseline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Cliquer pour ajouter du texte</a:t>
            </a:r>
          </a:p>
        </p:txBody>
      </p:sp>
      <p:sp>
        <p:nvSpPr>
          <p:cNvPr id="13" name="Espace réservé du pied de page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5" name="Espace réservé de la date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57321"/>
            <a:ext cx="4989629" cy="2387771"/>
          </a:xfrm>
          <a:prstGeom prst="rect">
            <a:avLst/>
          </a:prstGeom>
        </p:spPr>
        <p:txBody>
          <a:bodyPr rtlCol="0" anchor="b"/>
          <a:lstStyle>
            <a:lvl1pPr algn="ctr">
              <a:defRPr lang="en-US" sz="4800" b="1" cap="all" spc="400" baseline="0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0" name="Espace réservé du texte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lang="en-US" sz="1800" i="0">
                <a:solidFill>
                  <a:schemeClr val="bg1"/>
                </a:solidFill>
                <a:latin typeface="Calibri Light" panose="020F0302020204030204" pitchFamily="34" charset="0"/>
              </a:defRPr>
            </a:lvl1pPr>
          </a:lstStyle>
          <a:p>
            <a:pPr lvl="0" rtl="0"/>
            <a:r>
              <a:rPr lang="fr-FR" noProof="0"/>
              <a:t>Cliquez pour ajouter un sous-titre</a:t>
            </a:r>
          </a:p>
        </p:txBody>
      </p:sp>
      <p:sp>
        <p:nvSpPr>
          <p:cNvPr id="12" name="Espace réservé du pied de page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182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</a:p>
        </p:txBody>
      </p:sp>
      <p:sp>
        <p:nvSpPr>
          <p:cNvPr id="13" name="Espace réservé du numéro de diapositive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4" name="Espace réservé de la date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6857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pied de page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900" b="1" cap="all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fr-FR"/>
              <a:t>TITRE DE LA PRÉSENTATION</a:t>
            </a:r>
            <a:endParaRPr lang="fr-FR" b="1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rtlCol="0" anchor="ctr"/>
          <a:lstStyle>
            <a:lvl1pPr algn="r">
              <a:defRPr lang="en-US" sz="1600">
                <a:solidFill>
                  <a:schemeClr val="accent6"/>
                </a:solidFill>
                <a:latin typeface="Calibri Light" panose="020F0302020204030204" pitchFamily="34" charset="0"/>
              </a:defRPr>
            </a:lvl1pPr>
          </a:lstStyle>
          <a:p>
            <a:pPr>
              <a:defRPr lang="en-US"/>
            </a:pPr>
            <a:fld id="{8D1FC6F8-0BCD-47E9-9C64-690771D9C143}" type="slidenum">
              <a:rPr lang="fr-FR" smtClean="0"/>
              <a:pPr>
                <a:defRPr lang="en-US"/>
              </a:pPr>
              <a:t>‹n°›</a:t>
            </a:fld>
            <a:endParaRPr lang="fr-FR"/>
          </a:p>
        </p:txBody>
      </p:sp>
      <p:sp>
        <p:nvSpPr>
          <p:cNvPr id="15" name="Espace réservé de la date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rtlCol="0" anchor="ctr"/>
          <a:lstStyle>
            <a:lvl1pPr>
              <a:defRPr lang="en-US" sz="900" b="1" spc="400" baseline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>
              <a:defRPr lang="en-US"/>
            </a:pPr>
            <a:r>
              <a:rPr lang="fr-FR" cap="all"/>
              <a:t>21 mai 20xx</a:t>
            </a:r>
            <a:endParaRPr lang="fr-FR" b="1" cap="all"/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84" y="1057048"/>
            <a:ext cx="7215431" cy="1929505"/>
          </a:xfrm>
        </p:spPr>
        <p:txBody>
          <a:bodyPr lIns="91440" tIns="45720" rIns="91440" bIns="45720" rtlCol="0" anchor="b"/>
          <a:lstStyle>
            <a:defPPr>
              <a:defRPr lang="en-US"/>
            </a:defPPr>
          </a:lstStyle>
          <a:p>
            <a:pPr algn="ctr"/>
            <a:r>
              <a:rPr lang="fr-CA" sz="4000">
                <a:solidFill>
                  <a:srgbClr val="FFFFFF"/>
                </a:solidFill>
                <a:latin typeface="Aptos"/>
              </a:rPr>
              <a:t>Challenge de rendu et de dynamique physique</a:t>
            </a:r>
            <a:endParaRPr lang="fr-FR" sz="400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79566" y="109001"/>
            <a:ext cx="5270326" cy="816022"/>
          </a:xfrm>
        </p:spPr>
        <p:txBody>
          <a:bodyPr lIns="91440" tIns="45720" rIns="91440" bIns="45720" rtlCol="0" anchor="t">
            <a:normAutofit fontScale="25000" lnSpcReduction="20000"/>
          </a:bodyPr>
          <a:lstStyle>
            <a:defPPr>
              <a:defRPr lang="en-US"/>
            </a:defPPr>
          </a:lstStyle>
          <a:p>
            <a:endParaRPr lang="fr-FR" sz="8000" b="1">
              <a:latin typeface="Calibri Light"/>
              <a:ea typeface="Calibri Light"/>
              <a:cs typeface="Calibri Light"/>
            </a:endParaRPr>
          </a:p>
          <a:p>
            <a:r>
              <a:rPr lang="fr-CA" sz="8000" b="1">
                <a:latin typeface="Aptos"/>
                <a:ea typeface="Calibri Light"/>
                <a:cs typeface="Calibri Light"/>
              </a:rPr>
              <a:t>INFO4900 - Sujets avancés en informatique</a:t>
            </a:r>
            <a:endParaRPr lang="fr-FR" sz="8000" b="1">
              <a:latin typeface="Aptos"/>
              <a:ea typeface="Calibri Light"/>
              <a:cs typeface="Calibri Light"/>
            </a:endParaRPr>
          </a:p>
          <a:p>
            <a:endParaRPr lang="fr-CA" sz="8000" b="1">
              <a:latin typeface="Aptos"/>
              <a:ea typeface="Calibri Light"/>
              <a:cs typeface="Calibri Light"/>
            </a:endParaRPr>
          </a:p>
          <a:p>
            <a:r>
              <a:rPr lang="fr-FR">
                <a:latin typeface="Calibri Light"/>
                <a:ea typeface="Calibri Light"/>
                <a:cs typeface="Calibri Light"/>
              </a:rPr>
              <a:t>​​</a:t>
            </a:r>
            <a:endParaRPr lang="fr-FR">
              <a:ea typeface="Calibri Light"/>
              <a:cs typeface="Calibri Ligh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C836DFF-442B-F9A7-E3E6-334F2F547966}"/>
              </a:ext>
            </a:extLst>
          </p:cNvPr>
          <p:cNvSpPr txBox="1"/>
          <p:nvPr/>
        </p:nvSpPr>
        <p:spPr>
          <a:xfrm>
            <a:off x="254000" y="4542692"/>
            <a:ext cx="609600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CA" sz="1600" err="1">
                <a:solidFill>
                  <a:srgbClr val="FFFFFF"/>
                </a:solidFill>
                <a:latin typeface="Aptos"/>
              </a:rPr>
              <a:t>Dyhia</a:t>
            </a:r>
            <a:r>
              <a:rPr lang="fr-CA" sz="1600">
                <a:solidFill>
                  <a:srgbClr val="FFFFFF"/>
                </a:solidFill>
                <a:latin typeface="Aptos"/>
              </a:rPr>
              <a:t> Hamouche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CA" sz="1600">
                <a:solidFill>
                  <a:srgbClr val="FFFFFF"/>
                </a:solidFill>
                <a:latin typeface="Aptos"/>
              </a:rPr>
              <a:t>Taieb </a:t>
            </a:r>
            <a:r>
              <a:rPr lang="fr-CA" sz="1600" err="1">
                <a:solidFill>
                  <a:srgbClr val="FFFFFF"/>
                </a:solidFill>
                <a:latin typeface="Aptos"/>
              </a:rPr>
              <a:t>Jemni</a:t>
            </a:r>
            <a:endParaRPr lang="fr-CA" sz="1600">
              <a:solidFill>
                <a:srgbClr val="FFFFFF"/>
              </a:solidFill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fr-CA" sz="1600">
                <a:solidFill>
                  <a:srgbClr val="FFFFFF"/>
                </a:solidFill>
                <a:latin typeface="Aptos"/>
              </a:rPr>
              <a:t>Francis-René McLaughlin</a:t>
            </a:r>
          </a:p>
          <a:p>
            <a:pPr marL="285750" indent="-285750">
              <a:buFont typeface="Arial"/>
              <a:buChar char="•"/>
            </a:pPr>
            <a:r>
              <a:rPr lang="en-CA" sz="1600">
                <a:solidFill>
                  <a:srgbClr val="FFFFFF"/>
                </a:solidFill>
                <a:latin typeface="Aptos"/>
              </a:rPr>
              <a:t>Hugo Sonier</a:t>
            </a:r>
            <a:endParaRPr lang="fr-CA" sz="1600">
              <a:solidFill>
                <a:srgbClr val="FFFFFF"/>
              </a:solidFill>
              <a:latin typeface="Aptos"/>
            </a:endParaRPr>
          </a:p>
          <a:p>
            <a:endParaRPr lang="fr-CA" sz="2000" b="1">
              <a:solidFill>
                <a:srgbClr val="FFFFFF"/>
              </a:solidFill>
              <a:latin typeface="Aptos"/>
            </a:endParaRPr>
          </a:p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re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1913" y="1498941"/>
            <a:ext cx="6013733" cy="898985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>
                <a:solidFill>
                  <a:srgbClr val="0BE1FF"/>
                </a:solidFill>
                <a:latin typeface="Century Gothic"/>
              </a:rPr>
              <a:t>Introduction</a:t>
            </a:r>
            <a:endParaRPr lang="fr-FR"/>
          </a:p>
        </p:txBody>
      </p:sp>
      <p:sp>
        <p:nvSpPr>
          <p:cNvPr id="59" name="Espace réservé du texte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2977" y="2386604"/>
            <a:ext cx="6011760" cy="3644064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>
                <a:latin typeface="Calibri Light"/>
                <a:ea typeface="Calibri Light"/>
                <a:cs typeface="Calibri Light"/>
              </a:rPr>
              <a:t>Notre projet consiste à créer une scène 3D réaliste intégrant :</a:t>
            </a:r>
            <a:endParaRPr lang="fr-FR">
              <a:latin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Calibri Light"/>
                <a:ea typeface="Calibri Light"/>
                <a:cs typeface="Calibri Light"/>
              </a:rPr>
              <a:t>un rendu visuel de qualité (matériaux, textures, éclairage),</a:t>
            </a:r>
            <a:endParaRPr lang="fr-FR">
              <a:latin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Calibri Light"/>
                <a:ea typeface="Calibri Light"/>
                <a:cs typeface="Calibri Light"/>
              </a:rPr>
              <a:t>une dynamique physique (gravité, collisions, chute, roulement),</a:t>
            </a:r>
            <a:endParaRPr lang="fr-FR">
              <a:latin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Calibri Light"/>
                <a:ea typeface="Calibri Light"/>
                <a:cs typeface="Calibri Light"/>
              </a:rPr>
              <a:t>une déformation crédible (balle souple après l’impact),</a:t>
            </a:r>
            <a:endParaRPr lang="fr-FR">
              <a:latin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latin typeface="Calibri Light"/>
                <a:ea typeface="Calibri Light"/>
                <a:cs typeface="Calibri Light"/>
              </a:rPr>
              <a:t>ainsi qu’une animation pour rendre la scène plus vivante.</a:t>
            </a:r>
            <a:endParaRPr lang="fr-FR">
              <a:latin typeface="Calibri Light"/>
            </a:endParaRPr>
          </a:p>
          <a:p>
            <a:endParaRPr lang="fr-FR">
              <a:latin typeface="Calibri Light"/>
              <a:ea typeface="Calibri Light"/>
              <a:cs typeface="Calibri Light"/>
            </a:endParaRPr>
          </a:p>
          <a:p>
            <a:r>
              <a:rPr lang="fr-FR">
                <a:latin typeface="Calibri Light"/>
                <a:ea typeface="Calibri Light"/>
                <a:cs typeface="Calibri Light"/>
              </a:rPr>
              <a:t>Nous avons choisi de représenter une table avec un verre, une cuillère métallique, une balle souple et un chat animé qui interagit avec la scène.</a:t>
            </a:r>
            <a:endParaRPr lang="fr-FR">
              <a:latin typeface="Calibri Light"/>
            </a:endParaRPr>
          </a:p>
          <a:p>
            <a:endParaRPr lang="fr-FR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18423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re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332" y="324119"/>
            <a:ext cx="8338327" cy="667498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/>
              <a:t>Description générale de la scène</a:t>
            </a:r>
          </a:p>
          <a:p>
            <a:endParaRPr lang="fr-FR"/>
          </a:p>
        </p:txBody>
      </p: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933753EF-34D5-413D-B330-9D63C1E264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24129" y="1410531"/>
            <a:ext cx="9505853" cy="4045367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 b="1">
                <a:ea typeface="Calibri Light"/>
                <a:cs typeface="Calibri Light"/>
              </a:rPr>
              <a:t>Ce que contient la scène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>
                <a:latin typeface="Calibri Light"/>
                <a:ea typeface="Calibri Light"/>
                <a:cs typeface="Calibri Light"/>
              </a:rPr>
              <a:t>Une </a:t>
            </a:r>
            <a:r>
              <a:rPr lang="fr-FR" b="1">
                <a:latin typeface="Calibri Light"/>
                <a:ea typeface="Calibri Light"/>
                <a:cs typeface="Calibri Light"/>
              </a:rPr>
              <a:t>table </a:t>
            </a:r>
            <a:r>
              <a:rPr lang="fr-FR">
                <a:latin typeface="Calibri Light"/>
                <a:ea typeface="Calibri Light"/>
                <a:cs typeface="Calibri Light"/>
              </a:rPr>
              <a:t>comme élément central</a:t>
            </a:r>
            <a:endParaRPr lang="fr-FR">
              <a:latin typeface="Calibri Light"/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ea typeface="Calibri Light"/>
                <a:cs typeface="Calibri Light"/>
              </a:rPr>
              <a:t>Un </a:t>
            </a:r>
            <a:r>
              <a:rPr lang="fr-FR" b="1">
                <a:ea typeface="Calibri Light"/>
                <a:cs typeface="Calibri Light"/>
              </a:rPr>
              <a:t>verre transparent</a:t>
            </a:r>
            <a:r>
              <a:rPr lang="fr-FR">
                <a:ea typeface="Calibri Light"/>
                <a:cs typeface="Calibri Light"/>
              </a:rPr>
              <a:t> et une </a:t>
            </a:r>
            <a:r>
              <a:rPr lang="fr-FR" b="1">
                <a:ea typeface="Calibri Light"/>
                <a:cs typeface="Calibri Light"/>
              </a:rPr>
              <a:t>cuillère métallique</a:t>
            </a:r>
            <a:r>
              <a:rPr lang="fr-FR">
                <a:ea typeface="Calibri Light"/>
                <a:cs typeface="Calibri Light"/>
              </a:rPr>
              <a:t> posés sur la table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>
                <a:ea typeface="Calibri Light"/>
                <a:cs typeface="Calibri Light"/>
              </a:rPr>
              <a:t>Une </a:t>
            </a:r>
            <a:r>
              <a:rPr lang="fr-FR" b="1">
                <a:ea typeface="Calibri Light"/>
                <a:cs typeface="Calibri Light"/>
              </a:rPr>
              <a:t>balle souple</a:t>
            </a:r>
            <a:r>
              <a:rPr lang="fr-FR">
                <a:ea typeface="Calibri Light"/>
                <a:cs typeface="Calibri Light"/>
              </a:rPr>
              <a:t> capable de se déformer à l’impact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>
                <a:ea typeface="Calibri Light"/>
                <a:cs typeface="Calibri Light"/>
              </a:rPr>
              <a:t>Un </a:t>
            </a:r>
            <a:r>
              <a:rPr lang="fr-FR" b="1">
                <a:ea typeface="Calibri Light"/>
                <a:cs typeface="Calibri Light"/>
              </a:rPr>
              <a:t>chat animé</a:t>
            </a:r>
            <a:r>
              <a:rPr lang="fr-FR">
                <a:ea typeface="Calibri Light"/>
                <a:cs typeface="Calibri Light"/>
              </a:rPr>
              <a:t> qui se déplace sur la table et interagit avec la balle</a:t>
            </a:r>
            <a:endParaRPr lang="fr-FR"/>
          </a:p>
          <a:p>
            <a:endParaRPr lang="fr-FR">
              <a:ea typeface="Calibri Light"/>
              <a:cs typeface="Calibri Light"/>
            </a:endParaRPr>
          </a:p>
          <a:p>
            <a:endParaRPr lang="fr-FR">
              <a:ea typeface="Calibri Light"/>
              <a:cs typeface="Calibri Ligh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568827D-8C9E-F654-313E-5B87A3B53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230" y="1564426"/>
            <a:ext cx="4015154" cy="200976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F294A77-6339-478F-A182-646D42A92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769" y="4146555"/>
            <a:ext cx="4122616" cy="196458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32452E9-3874-F7AD-BFCE-CE92F8DDD6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3574768"/>
            <a:ext cx="3829540" cy="184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4EDD44-74C2-6182-9637-9DA55E1D2A5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87812" y="2229380"/>
            <a:ext cx="7654925" cy="5068887"/>
          </a:xfrm>
        </p:spPr>
        <p:txBody>
          <a:bodyPr lIns="91440" tIns="45720" rIns="91440" bIns="45720" rtlCol="0" anchor="t"/>
          <a:lstStyle/>
          <a:p>
            <a:pPr marL="0" indent="0">
              <a:buNone/>
            </a:pPr>
            <a:r>
              <a:rPr lang="fr-CA" sz="1400">
                <a:latin typeface="Calibri Light"/>
                <a:ea typeface="Calibri Light"/>
                <a:cs typeface="Calibri Light"/>
              </a:rPr>
              <a:t>Pour améliorer le réalisme visuel de la scène, nous avons configuré et ajusté plusieurs matériaux et textures selon les besoins des objets :</a:t>
            </a:r>
            <a:endParaRPr lang="fr-CA" sz="1400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fr-CA" sz="1400">
                <a:latin typeface="Calibri Light"/>
                <a:ea typeface="Calibri Light"/>
                <a:cs typeface="Calibri Light"/>
              </a:rPr>
              <a:t>Nous avons importé différentes textures haute résolution (Base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Map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, Normal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Map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,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Roughness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,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Metallic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) afin de reproduire fidèlement les surfaces.</a:t>
            </a:r>
            <a:endParaRPr lang="fr-CA" sz="1400">
              <a:ea typeface="Calibri Light"/>
              <a:cs typeface="Calibri Light"/>
            </a:endParaRPr>
          </a:p>
          <a:p>
            <a:r>
              <a:rPr lang="fr-CA" sz="1400">
                <a:latin typeface="Calibri Light"/>
                <a:ea typeface="Calibri Light"/>
                <a:cs typeface="Calibri Light"/>
              </a:rPr>
              <a:t>Chaque objet a reçu un matériau HDRP pour tirer avantage du rendu physique réaliste (PBR).</a:t>
            </a:r>
            <a:endParaRPr lang="fr-CA" sz="1400">
              <a:ea typeface="Calibri Light"/>
              <a:cs typeface="Calibri Light"/>
            </a:endParaRPr>
          </a:p>
          <a:p>
            <a:r>
              <a:rPr lang="fr-CA" sz="1400">
                <a:latin typeface="Calibri Light"/>
                <a:ea typeface="Calibri Light"/>
                <a:cs typeface="Calibri Light"/>
              </a:rPr>
              <a:t>Pour les éléments en métal (comme la cuillère), nous avons augmenté la valeur de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Metallic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et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Smoothness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pour obtenir un reflet propre et naturel.</a:t>
            </a:r>
            <a:endParaRPr lang="fr-CA" sz="1400">
              <a:ea typeface="Calibri Light"/>
              <a:cs typeface="Calibri Light"/>
            </a:endParaRPr>
          </a:p>
          <a:p>
            <a:r>
              <a:rPr lang="fr-CA" sz="1400">
                <a:latin typeface="Calibri Light"/>
                <a:ea typeface="Calibri Light"/>
                <a:cs typeface="Calibri Light"/>
              </a:rPr>
              <a:t>Pour le verre, nous avons utilisé un matériau transparent HDRP, en ajustant l’indice de réfraction et la transmission de la lumière.</a:t>
            </a:r>
            <a:endParaRPr lang="fr-CA" sz="1400">
              <a:ea typeface="Calibri Light"/>
              <a:cs typeface="Calibri Light"/>
            </a:endParaRPr>
          </a:p>
          <a:p>
            <a:r>
              <a:rPr lang="fr-CA" sz="1400">
                <a:latin typeface="Calibri Light"/>
                <a:ea typeface="Calibri Light"/>
                <a:cs typeface="Calibri Light"/>
              </a:rPr>
              <a:t>Nous avons également adapté la normal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map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de certains objets (comme le bois de la table) pour ajouter du relief et rendre la surface plus crédible.</a:t>
            </a:r>
            <a:endParaRPr lang="fr-CA" sz="1400">
              <a:ea typeface="Calibri Light"/>
              <a:cs typeface="Calibri Light"/>
            </a:endParaRPr>
          </a:p>
          <a:p>
            <a:r>
              <a:rPr lang="fr-CA" sz="1400">
                <a:latin typeface="Calibri Light"/>
                <a:ea typeface="Calibri Light"/>
                <a:cs typeface="Calibri Light"/>
              </a:rPr>
              <a:t>Lorsque certains assets n’avaient pas de textures ou étaient trop sombres, nous avons modifié manuellement les matériaux pour garantir une cohérence visuelle dans toute la scène.</a:t>
            </a:r>
            <a:endParaRPr lang="fr-CA" sz="1400">
              <a:ea typeface="Calibri Light"/>
              <a:cs typeface="Calibri Light"/>
            </a:endParaRPr>
          </a:p>
          <a:p>
            <a:endParaRPr lang="fr-CA" sz="1400">
              <a:ea typeface="Calibri Light"/>
              <a:cs typeface="Calibri Light"/>
            </a:endParaRPr>
          </a:p>
        </p:txBody>
      </p:sp>
      <p:sp>
        <p:nvSpPr>
          <p:cNvPr id="9" name="Titre 45">
            <a:extLst>
              <a:ext uri="{FF2B5EF4-FFF2-40B4-BE49-F238E27FC236}">
                <a16:creationId xmlns:a16="http://schemas.microsoft.com/office/drawing/2014/main" id="{FEDA59E3-7C66-48D3-8195-4810F5E39636}"/>
              </a:ext>
            </a:extLst>
          </p:cNvPr>
          <p:cNvSpPr txBox="1">
            <a:spLocks/>
          </p:cNvSpPr>
          <p:nvPr/>
        </p:nvSpPr>
        <p:spPr>
          <a:xfrm>
            <a:off x="385321" y="965626"/>
            <a:ext cx="9755514" cy="991689"/>
          </a:xfrm>
          <a:prstGeom prst="rect">
            <a:avLst/>
          </a:prstGeom>
        </p:spPr>
        <p:txBody>
          <a:bodyPr lIns="91440" tIns="45720" rIns="91440" bIns="45720" rtlCol="0" anchor="t"/>
          <a:lstStyle>
            <a:defPPr>
              <a:defRPr lang="en-US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1" kern="1200" cap="all" spc="400" baseline="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fr-FR" err="1">
                <a:latin typeface="Century Gothic"/>
              </a:rPr>
              <a:t>RÉalisme</a:t>
            </a:r>
            <a:r>
              <a:rPr lang="fr-FR">
                <a:latin typeface="Century Gothic"/>
              </a:rPr>
              <a:t> visuel ( Matériaux et textures)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174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77504E-F073-0044-3EF9-AAC60FBCE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316" y="1428248"/>
            <a:ext cx="6207940" cy="580030"/>
          </a:xfrm>
        </p:spPr>
        <p:txBody>
          <a:bodyPr lIns="91440" tIns="45720" rIns="91440" bIns="45720" rtlCol="0" anchor="t"/>
          <a:lstStyle/>
          <a:p>
            <a:r>
              <a:rPr lang="fr-CA">
                <a:latin typeface="Century Gothic"/>
              </a:rPr>
              <a:t>Modélisation des objets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3555F7-FB48-A4CB-C532-9BE326C9EE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72" y="2133303"/>
            <a:ext cx="2640803" cy="365125"/>
          </a:xfrm>
        </p:spPr>
        <p:txBody>
          <a:bodyPr lIns="91440" tIns="45720" rIns="91440" bIns="45720" rtlCol="0" anchor="t"/>
          <a:lstStyle/>
          <a:p>
            <a:r>
              <a:rPr lang="fr-CA">
                <a:latin typeface="Century Gothic"/>
              </a:rPr>
              <a:t>Logiciel</a:t>
            </a:r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131EC79-ED15-F16C-3EA7-16868A18C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0972" y="2622558"/>
            <a:ext cx="1670332" cy="545301"/>
          </a:xfrm>
        </p:spPr>
        <p:txBody>
          <a:bodyPr lIns="91440" tIns="45720" rIns="91440" bIns="45720" rtlCol="0" anchor="t"/>
          <a:lstStyle/>
          <a:p>
            <a:pPr marL="285750" indent="-285750" algn="l">
              <a:buChar char="•"/>
            </a:pPr>
            <a:r>
              <a:rPr lang="fr-CA">
                <a:latin typeface="Calibri Light"/>
                <a:ea typeface="Calibri Light"/>
                <a:cs typeface="Calibri Light"/>
              </a:rPr>
              <a:t>Blender</a:t>
            </a:r>
            <a:endParaRPr lang="fr-FR"/>
          </a:p>
          <a:p>
            <a:pPr marL="285750" indent="-285750">
              <a:buChar char="•"/>
            </a:pPr>
            <a:endParaRPr lang="fr-CA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125FE0-ABDB-D3AF-C974-5B8D83E90F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6288" y="2113891"/>
            <a:ext cx="2640803" cy="116833"/>
          </a:xfrm>
        </p:spPr>
        <p:txBody>
          <a:bodyPr lIns="91440" tIns="45720" rIns="91440" bIns="45720" rtlCol="0" anchor="t"/>
          <a:lstStyle/>
          <a:p>
            <a:r>
              <a:rPr lang="fr-CA">
                <a:latin typeface="Century Gothic"/>
              </a:rPr>
              <a:t>Objets modélisés</a:t>
            </a:r>
            <a:endParaRPr lang="fr-CA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B2AD083-26A0-A7FA-CBD4-CCD634AB09E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02553" y="2515670"/>
            <a:ext cx="2640803" cy="884785"/>
          </a:xfrm>
        </p:spPr>
        <p:txBody>
          <a:bodyPr lIns="91440" tIns="45720" rIns="91440" bIns="45720" rtlCol="0" anchor="t"/>
          <a:lstStyle/>
          <a:p>
            <a:pPr marL="285750" indent="-285750" algn="l">
              <a:buChar char="•"/>
            </a:pPr>
            <a:r>
              <a:rPr lang="fr-CA">
                <a:latin typeface="Calibri Light"/>
                <a:ea typeface="Calibri Light"/>
                <a:cs typeface="Calibri Light"/>
              </a:rPr>
              <a:t>Cuillère</a:t>
            </a:r>
            <a:endParaRPr lang="fr-FR"/>
          </a:p>
          <a:p>
            <a:pPr marL="285750" indent="-285750" algn="l">
              <a:buChar char="•"/>
            </a:pPr>
            <a:r>
              <a:rPr lang="fr-CA">
                <a:latin typeface="Calibri Light"/>
                <a:ea typeface="Calibri Light"/>
                <a:cs typeface="Calibri Light"/>
              </a:rPr>
              <a:t>Verre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11A1C32-E6AD-203E-9977-2E1CEDF7F5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25821" y="1949622"/>
            <a:ext cx="2640803" cy="365125"/>
          </a:xfrm>
        </p:spPr>
        <p:txBody>
          <a:bodyPr lIns="91440" tIns="45720" rIns="91440" bIns="45720" rtlCol="0" anchor="t"/>
          <a:lstStyle/>
          <a:p>
            <a:r>
              <a:rPr lang="fr-CA">
                <a:latin typeface="Century Gothic"/>
              </a:rPr>
              <a:t>Intégration</a:t>
            </a:r>
            <a:endParaRPr lang="fr-CA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D81871E-F313-C067-6574-D006F3E4D6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65551" y="2230890"/>
            <a:ext cx="2640803" cy="1616414"/>
          </a:xfrm>
        </p:spPr>
        <p:txBody>
          <a:bodyPr lIns="91440" tIns="45720" rIns="91440" bIns="45720" rtlCol="0" anchor="t"/>
          <a:lstStyle/>
          <a:p>
            <a:pPr marL="285750" indent="-285750" algn="l">
              <a:buChar char="•"/>
            </a:pPr>
            <a:r>
              <a:rPr lang="fr-CA">
                <a:latin typeface="Calibri Light"/>
                <a:ea typeface="Calibri Light"/>
                <a:cs typeface="Calibri Light"/>
              </a:rPr>
              <a:t>Format FBX</a:t>
            </a:r>
            <a:endParaRPr lang="fr-FR"/>
          </a:p>
          <a:p>
            <a:pPr marL="285750" indent="-285750" algn="l">
              <a:buChar char="•"/>
            </a:pPr>
            <a:r>
              <a:rPr lang="fr-CA">
                <a:latin typeface="Calibri Light"/>
                <a:ea typeface="Calibri Light"/>
                <a:cs typeface="Calibri Light"/>
              </a:rPr>
              <a:t>Ajustement de la taille et positions</a:t>
            </a:r>
          </a:p>
          <a:p>
            <a:pPr marL="285750" indent="-285750" algn="l">
              <a:buChar char="•"/>
            </a:pPr>
            <a:r>
              <a:rPr lang="fr-CA">
                <a:latin typeface="Calibri Light"/>
                <a:ea typeface="Calibri Light"/>
                <a:cs typeface="Calibri Light"/>
              </a:rPr>
              <a:t>Application des matériaux</a:t>
            </a:r>
            <a:endParaRPr lang="fr-CA"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7" name="Espace réservé pour une image  16">
            <a:extLst>
              <a:ext uri="{FF2B5EF4-FFF2-40B4-BE49-F238E27FC236}">
                <a16:creationId xmlns:a16="http://schemas.microsoft.com/office/drawing/2014/main" id="{7B406642-4204-F6EA-CBEC-B158F0066070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l="20693" r="20693"/>
          <a:stretch/>
        </p:blipFill>
        <p:spPr>
          <a:xfrm>
            <a:off x="5469841" y="3879636"/>
            <a:ext cx="2634913" cy="2647915"/>
          </a:xfrm>
          <a:prstGeom prst="rect">
            <a:avLst/>
          </a:prstGeom>
        </p:spPr>
      </p:pic>
      <p:pic>
        <p:nvPicPr>
          <p:cNvPr id="18" name="Espace réservé pour une image  17">
            <a:extLst>
              <a:ext uri="{FF2B5EF4-FFF2-40B4-BE49-F238E27FC236}">
                <a16:creationId xmlns:a16="http://schemas.microsoft.com/office/drawing/2014/main" id="{DA16E617-6445-145A-D671-CED834AD7F34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/>
          <a:srcRect l="23851" r="23851"/>
          <a:stretch/>
        </p:blipFill>
        <p:spPr>
          <a:xfrm>
            <a:off x="1262269" y="3734975"/>
            <a:ext cx="2763339" cy="276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200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re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140" y="641957"/>
            <a:ext cx="4284056" cy="732197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>
                <a:latin typeface="Century Gothic"/>
              </a:rPr>
              <a:t>Éclairage et ambiance</a:t>
            </a:r>
          </a:p>
        </p:txBody>
      </p:sp>
      <p:sp>
        <p:nvSpPr>
          <p:cNvPr id="96" name="Espace réservé du texte 95">
            <a:extLst>
              <a:ext uri="{FF2B5EF4-FFF2-40B4-BE49-F238E27FC236}">
                <a16:creationId xmlns:a16="http://schemas.microsoft.com/office/drawing/2014/main" id="{CDBDA856-8CC1-449E-B621-022F99358F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98702" y="141257"/>
            <a:ext cx="8438521" cy="5613333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 b="1">
                <a:latin typeface="Calibri Light"/>
                <a:ea typeface="Calibri Light"/>
                <a:cs typeface="Calibri Light"/>
              </a:rPr>
              <a:t>Lumière directionnelle (</a:t>
            </a:r>
            <a:r>
              <a:rPr lang="fr-FR" b="1" err="1">
                <a:latin typeface="Calibri Light"/>
                <a:ea typeface="Calibri Light"/>
                <a:cs typeface="Calibri Light"/>
              </a:rPr>
              <a:t>Directional</a:t>
            </a:r>
            <a:r>
              <a:rPr lang="fr-FR" b="1">
                <a:latin typeface="Calibri Light"/>
                <a:ea typeface="Calibri Light"/>
                <a:cs typeface="Calibri Light"/>
              </a:rPr>
              <a:t> Light)</a:t>
            </a:r>
            <a:endParaRPr lang="fr-FR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Simule la lumière du matin provenant d'une fenêtre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Teintes légèrement chaudes pour créer une ambiance chaleureuse</a:t>
            </a:r>
          </a:p>
          <a:p>
            <a:pPr marL="285750" indent="-285750">
              <a:buFont typeface="Wingdings"/>
              <a:buChar char="ü"/>
            </a:pPr>
            <a:r>
              <a:rPr lang="fr-FR" err="1">
                <a:latin typeface="Calibri Light"/>
                <a:ea typeface="Calibri Light"/>
                <a:cs typeface="Calibri Light"/>
              </a:rPr>
              <a:t>Shadowmap</a:t>
            </a:r>
            <a:r>
              <a:rPr lang="fr-FR">
                <a:latin typeface="Calibri Light"/>
                <a:ea typeface="Calibri Light"/>
                <a:cs typeface="Calibri Light"/>
              </a:rPr>
              <a:t> à 2048 pour des ombres nettes et sans artefacts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Orientation ciblée vers la fenêtre pour un éclairage naturel</a:t>
            </a:r>
          </a:p>
          <a:p>
            <a:endParaRPr lang="fr-FR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fr-FR" b="1">
                <a:latin typeface="Calibri Light"/>
                <a:ea typeface="Calibri Light"/>
                <a:cs typeface="Calibri Light"/>
              </a:rPr>
              <a:t>Global Volume et exposition</a:t>
            </a:r>
            <a:endParaRPr lang="fr-FR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Exposition fixe (</a:t>
            </a:r>
            <a:r>
              <a:rPr lang="fr-FR" err="1">
                <a:latin typeface="Calibri Light"/>
                <a:ea typeface="Calibri Light"/>
                <a:cs typeface="Calibri Light"/>
              </a:rPr>
              <a:t>Fixed</a:t>
            </a:r>
            <a:r>
              <a:rPr lang="fr-FR">
                <a:latin typeface="Calibri Light"/>
                <a:ea typeface="Calibri Light"/>
                <a:cs typeface="Calibri Light"/>
              </a:rPr>
              <a:t> </a:t>
            </a:r>
            <a:r>
              <a:rPr lang="fr-FR" err="1">
                <a:latin typeface="Calibri Light"/>
                <a:ea typeface="Calibri Light"/>
                <a:cs typeface="Calibri Light"/>
              </a:rPr>
              <a:t>Exposure</a:t>
            </a:r>
            <a:r>
              <a:rPr lang="fr-FR">
                <a:latin typeface="Calibri Light"/>
                <a:ea typeface="Calibri Light"/>
                <a:cs typeface="Calibri Light"/>
              </a:rPr>
              <a:t>) pour un contrôle précis de la luminosité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HDRI Sky pour l'éclairage ambiant et les réflexions environnementales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Amélioration du réalisme des matériaux réfléchissants (verre, cuillère)</a:t>
            </a:r>
          </a:p>
          <a:p>
            <a:pPr marL="285750" indent="-285750">
              <a:buFont typeface="Wingdings"/>
              <a:buChar char="ü"/>
            </a:pPr>
            <a:endParaRPr lang="fr-FR">
              <a:latin typeface="Calibri Light"/>
              <a:ea typeface="Calibri Light"/>
              <a:cs typeface="Calibri Light"/>
            </a:endParaRPr>
          </a:p>
          <a:p>
            <a:r>
              <a:rPr lang="fr-FR" b="1" err="1">
                <a:latin typeface="Calibri Light"/>
                <a:ea typeface="Calibri Light"/>
                <a:cs typeface="Calibri Light"/>
              </a:rPr>
              <a:t>Volumetric</a:t>
            </a:r>
            <a:r>
              <a:rPr lang="fr-FR" b="1">
                <a:latin typeface="Calibri Light"/>
                <a:ea typeface="Calibri Light"/>
                <a:cs typeface="Calibri Light"/>
              </a:rPr>
              <a:t> Fog (Brouillard volumétrique)</a:t>
            </a:r>
            <a:endParaRPr lang="fr-FR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Rend la lumière visible dans l'espace 3D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Crée des rayons lumineux (</a:t>
            </a:r>
            <a:r>
              <a:rPr lang="fr-FR" err="1">
                <a:latin typeface="Calibri Light"/>
                <a:ea typeface="Calibri Light"/>
                <a:cs typeface="Calibri Light"/>
              </a:rPr>
              <a:t>god</a:t>
            </a:r>
            <a:r>
              <a:rPr lang="fr-FR">
                <a:latin typeface="Calibri Light"/>
                <a:ea typeface="Calibri Light"/>
                <a:cs typeface="Calibri Light"/>
              </a:rPr>
              <a:t> rays) traversant la fenêtre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Renforce l'atmosphère et la profondeur de la scène</a:t>
            </a:r>
          </a:p>
          <a:p>
            <a:pPr marL="285750" indent="-285750">
              <a:buFont typeface="Wingdings"/>
              <a:buChar char="ü"/>
            </a:pPr>
            <a:endParaRPr lang="fr-FR">
              <a:latin typeface="Calibri Light"/>
              <a:ea typeface="Calibri Light"/>
              <a:cs typeface="Calibri Light"/>
            </a:endParaRPr>
          </a:p>
          <a:p>
            <a:r>
              <a:rPr lang="fr-FR" b="1">
                <a:latin typeface="Calibri Light"/>
                <a:ea typeface="Calibri Light"/>
                <a:cs typeface="Calibri Light"/>
              </a:rPr>
              <a:t>Ambiance générale recherchée</a:t>
            </a:r>
            <a:endParaRPr lang="fr-FR">
              <a:latin typeface="Calibri Light"/>
              <a:ea typeface="Calibri Light"/>
              <a:cs typeface="Calibri Light"/>
            </a:endParaRP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Atmosphère d'intérieur calme, naturelle et lisible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Mise en valeur de la table et des objets</a:t>
            </a:r>
          </a:p>
          <a:p>
            <a:pPr marL="285750" indent="-285750">
              <a:buFont typeface="Wingdings"/>
              <a:buChar char="ü"/>
            </a:pPr>
            <a:r>
              <a:rPr lang="fr-FR">
                <a:latin typeface="Calibri Light"/>
                <a:ea typeface="Calibri Light"/>
                <a:cs typeface="Calibri Light"/>
              </a:rPr>
              <a:t>Éclairage optimal pour l'animation du chat et le mouvement de la balle</a:t>
            </a:r>
          </a:p>
          <a:p>
            <a:pPr marL="285750" indent="-285750">
              <a:buFont typeface="Wingdings"/>
              <a:buChar char="ü"/>
            </a:pPr>
            <a:endParaRPr lang="fr-FR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b="1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/>
              <a:buChar char="ü"/>
            </a:pPr>
            <a:endParaRPr lang="fr-FR">
              <a:latin typeface="Calibri Light"/>
              <a:ea typeface="Calibri Light"/>
              <a:cs typeface="Calibri Ligh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fr-FR">
              <a:latin typeface="Calibri Light"/>
              <a:ea typeface="Calibri Light"/>
              <a:cs typeface="Calibri Light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Wingdings"/>
              <a:buChar char="ü"/>
            </a:pPr>
            <a:endParaRPr lang="fr-FR" sz="1400">
              <a:solidFill>
                <a:schemeClr val="bg1"/>
              </a:solidFill>
              <a:latin typeface="Calibri Light"/>
              <a:ea typeface="Calibri Light"/>
              <a:cs typeface="Calibri Light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None/>
            </a:pPr>
            <a:endParaRPr lang="fr-FR" sz="1400">
              <a:solidFill>
                <a:schemeClr val="bg1"/>
              </a:solidFill>
              <a:latin typeface="Calibri Light"/>
              <a:ea typeface="Calibri Light"/>
              <a:cs typeface="Calibri Light"/>
            </a:endParaRPr>
          </a:p>
          <a:p>
            <a:pPr marL="285750" lvl="1" indent="-285750">
              <a:buFont typeface="Wingdings"/>
              <a:buChar char="ü"/>
            </a:pPr>
            <a:endParaRPr lang="fr-FR">
              <a:ea typeface="Calibri Light"/>
              <a:cs typeface="Calibri Light"/>
            </a:endParaRPr>
          </a:p>
          <a:p>
            <a:endParaRPr lang="fr-FR">
              <a:ea typeface="Calibri Light"/>
              <a:cs typeface="Calibri Light"/>
            </a:endParaRPr>
          </a:p>
          <a:p>
            <a:endParaRPr lang="fr-FR">
              <a:ea typeface="Calibri Light"/>
              <a:cs typeface="Calibri Ligh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AF405F7-00E4-6EA8-ABF0-AD0C5067C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760" y="2110668"/>
            <a:ext cx="3591170" cy="190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>
            <a:extLst>
              <a:ext uri="{FF2B5EF4-FFF2-40B4-BE49-F238E27FC236}">
                <a16:creationId xmlns:a16="http://schemas.microsoft.com/office/drawing/2014/main" id="{F92EC24E-3E0A-471B-9A70-B29306D2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444" y="1823626"/>
            <a:ext cx="6389794" cy="580029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>
                <a:latin typeface="Century Gothic"/>
              </a:rPr>
              <a:t>Caméra et</a:t>
            </a:r>
            <a:r>
              <a:rPr lang="fr-FR" b="0">
                <a:latin typeface="Century Gothic"/>
              </a:rPr>
              <a:t> </a:t>
            </a:r>
            <a:r>
              <a:rPr lang="fr-FR">
                <a:latin typeface="Century Gothic"/>
              </a:rPr>
              <a:t>composition</a:t>
            </a:r>
          </a:p>
        </p:txBody>
      </p:sp>
      <p:sp>
        <p:nvSpPr>
          <p:cNvPr id="39" name="Espace réservé du texte 38">
            <a:extLst>
              <a:ext uri="{FF2B5EF4-FFF2-40B4-BE49-F238E27FC236}">
                <a16:creationId xmlns:a16="http://schemas.microsoft.com/office/drawing/2014/main" id="{2B0040E8-BBFE-4B5E-9ADF-88F6C234CBA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70858" y="2787257"/>
            <a:ext cx="8801889" cy="2180780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pPr algn="l"/>
            <a:r>
              <a:rPr lang="fr-FR" sz="1600">
                <a:latin typeface="Calibri"/>
                <a:ea typeface="Calibri Light"/>
                <a:cs typeface="Calibri Light"/>
              </a:rPr>
              <a:t>La caméra est positionnée de façon à :</a:t>
            </a:r>
          </a:p>
          <a:p>
            <a:pPr marL="285750" indent="-285750" algn="l">
              <a:buFont typeface="Arial"/>
              <a:buChar char="•"/>
            </a:pPr>
            <a:r>
              <a:rPr lang="fr-FR" sz="1600">
                <a:latin typeface="Calibri"/>
                <a:ea typeface="Calibri Light"/>
                <a:cs typeface="Calibri Light"/>
              </a:rPr>
              <a:t>offrir une vue claire sur la table et les objets,</a:t>
            </a:r>
          </a:p>
          <a:p>
            <a:pPr marL="285750" indent="-285750" algn="l">
              <a:buFont typeface="Arial"/>
              <a:buChar char="•"/>
            </a:pPr>
            <a:r>
              <a:rPr lang="fr-FR" sz="1600">
                <a:latin typeface="Calibri"/>
                <a:ea typeface="Calibri Light"/>
                <a:cs typeface="Calibri Light"/>
              </a:rPr>
              <a:t>suivre l’animation du chat,</a:t>
            </a:r>
          </a:p>
          <a:p>
            <a:pPr marL="285750" indent="-285750" algn="l">
              <a:buFont typeface="Arial"/>
              <a:buChar char="•"/>
            </a:pPr>
            <a:r>
              <a:rPr lang="fr-FR" sz="1600">
                <a:latin typeface="Calibri"/>
                <a:ea typeface="Calibri Light"/>
                <a:cs typeface="Calibri Light"/>
              </a:rPr>
              <a:t>permettre de bien observer la chute et la déformation de la balle.</a:t>
            </a:r>
          </a:p>
          <a:p>
            <a:pPr algn="l"/>
            <a:r>
              <a:rPr lang="fr-FR" sz="1600">
                <a:latin typeface="Calibri"/>
                <a:ea typeface="Calibri Light"/>
                <a:cs typeface="Calibri Light"/>
              </a:rPr>
              <a:t>Un script simple et une caméra fixe ont été utilisée pour garantir une composition stable.</a:t>
            </a:r>
            <a:endParaRPr lang="fr-FR" sz="1600">
              <a:latin typeface="Calibri"/>
            </a:endParaRPr>
          </a:p>
          <a:p>
            <a:pPr algn="l"/>
            <a:endParaRPr lang="fr-FR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1919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re 33">
            <a:extLst>
              <a:ext uri="{FF2B5EF4-FFF2-40B4-BE49-F238E27FC236}">
                <a16:creationId xmlns:a16="http://schemas.microsoft.com/office/drawing/2014/main" id="{4BB0BCF4-9D20-4758-AE5E-FC431503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111" y="207956"/>
            <a:ext cx="5424988" cy="579245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>
                <a:latin typeface="Century Gothic"/>
              </a:rPr>
              <a:t>Animation du chat</a:t>
            </a:r>
          </a:p>
        </p:txBody>
      </p:sp>
      <p:sp>
        <p:nvSpPr>
          <p:cNvPr id="43" name="Espace réservé du texte 42">
            <a:extLst>
              <a:ext uri="{FF2B5EF4-FFF2-40B4-BE49-F238E27FC236}">
                <a16:creationId xmlns:a16="http://schemas.microsoft.com/office/drawing/2014/main" id="{947754CF-0306-43C0-AAC6-F0E44B385D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8212" y="798095"/>
            <a:ext cx="10801919" cy="5517058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pPr algn="l"/>
            <a:r>
              <a:rPr lang="fr-FR" sz="1600">
                <a:latin typeface="Calibri"/>
                <a:ea typeface="Calibri Light"/>
                <a:cs typeface="Calibri Light"/>
              </a:rPr>
              <a:t>--&gt; Modèle 3D importé depuis </a:t>
            </a:r>
            <a:r>
              <a:rPr lang="fr-FR" sz="1600" err="1">
                <a:latin typeface="Calibri"/>
                <a:ea typeface="Calibri Light"/>
                <a:cs typeface="Calibri Light"/>
              </a:rPr>
              <a:t>Sketchfab</a:t>
            </a:r>
            <a:r>
              <a:rPr lang="fr-FR" sz="1600">
                <a:latin typeface="Calibri"/>
                <a:ea typeface="Calibri Light"/>
                <a:cs typeface="Calibri Light"/>
              </a:rPr>
              <a:t> " </a:t>
            </a:r>
            <a:r>
              <a:rPr lang="fr-FR" sz="1600" i="1" err="1">
                <a:latin typeface="Calibri"/>
                <a:ea typeface="Calibri Light"/>
                <a:cs typeface="Calibri Light"/>
              </a:rPr>
              <a:t>Realistic</a:t>
            </a:r>
            <a:r>
              <a:rPr lang="fr-FR" sz="1600" i="1">
                <a:latin typeface="Calibri"/>
                <a:ea typeface="Calibri Light"/>
                <a:cs typeface="Calibri Light"/>
              </a:rPr>
              <a:t> </a:t>
            </a:r>
            <a:r>
              <a:rPr lang="fr-FR" sz="1600" i="1" err="1">
                <a:latin typeface="Calibri"/>
                <a:ea typeface="Calibri Light"/>
                <a:cs typeface="Calibri Light"/>
              </a:rPr>
              <a:t>Animated</a:t>
            </a:r>
            <a:r>
              <a:rPr lang="fr-FR" sz="1600" i="1">
                <a:latin typeface="Calibri"/>
                <a:ea typeface="Calibri Light"/>
                <a:cs typeface="Calibri Light"/>
              </a:rPr>
              <a:t> Walking Cat 3D Model – </a:t>
            </a:r>
            <a:r>
              <a:rPr lang="fr-FR" sz="1600" i="1" err="1">
                <a:latin typeface="Calibri"/>
                <a:ea typeface="Calibri Light"/>
                <a:cs typeface="Calibri Light"/>
              </a:rPr>
              <a:t>burgeonitsolutions</a:t>
            </a:r>
            <a:r>
              <a:rPr lang="fr-FR" sz="1600" i="1">
                <a:latin typeface="Calibri"/>
                <a:ea typeface="Calibri Light"/>
                <a:cs typeface="Calibri Light"/>
              </a:rPr>
              <a:t>"</a:t>
            </a:r>
            <a:endParaRPr lang="fr-FR" sz="1200" i="1">
              <a:latin typeface="Calibri Light"/>
              <a:ea typeface="Calibri Light"/>
              <a:cs typeface="Calibri Light"/>
            </a:endParaRPr>
          </a:p>
          <a:p>
            <a:pPr marL="285750" indent="-285750" algn="l">
              <a:buFont typeface="Wingdings" panose="020B0604020202020204" pitchFamily="34" charset="0"/>
              <a:buChar char="v"/>
            </a:pPr>
            <a:r>
              <a:rPr lang="fr-FR" sz="1600" b="1">
                <a:latin typeface="Calibri"/>
                <a:ea typeface="Calibri Light"/>
                <a:cs typeface="Calibri Light"/>
              </a:rPr>
              <a:t>Importation dans </a:t>
            </a:r>
            <a:r>
              <a:rPr lang="fr-FR" sz="1600" b="1" err="1">
                <a:latin typeface="Calibri"/>
                <a:ea typeface="Calibri Light"/>
                <a:cs typeface="Calibri Light"/>
              </a:rPr>
              <a:t>Unity</a:t>
            </a:r>
            <a:endParaRPr lang="fr-FR" sz="1600" b="1">
              <a:latin typeface="Calibri"/>
              <a:ea typeface="Calibri"/>
              <a:cs typeface="Calibri"/>
            </a:endParaRPr>
          </a:p>
          <a:p>
            <a:pPr marL="971550" lvl="1" indent="-285750" algn="l">
              <a:buFont typeface="Wingdings"/>
              <a:buChar char="ü"/>
            </a:pPr>
            <a:r>
              <a:rPr lang="fr-FR" sz="16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Format FBX avec armature + textures</a:t>
            </a:r>
            <a:endParaRPr lang="fr-FR" sz="16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Wingdings"/>
              <a:buChar char="ü"/>
            </a:pPr>
            <a:r>
              <a:rPr lang="fr-FR" sz="16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Configuration d’un </a:t>
            </a:r>
            <a:r>
              <a:rPr lang="fr-FR" sz="1600" err="1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Animator</a:t>
            </a:r>
            <a:r>
              <a:rPr lang="fr-FR" sz="16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 avec une animation de marche et t</a:t>
            </a:r>
            <a:r>
              <a:rPr lang="fr-FR" sz="1600">
                <a:solidFill>
                  <a:schemeClr val="bg1"/>
                </a:solidFill>
                <a:latin typeface="Daytona Pro Light"/>
                <a:ea typeface="Calibri Light"/>
                <a:cs typeface="Calibri Light"/>
              </a:rPr>
              <a:t>ransition </a:t>
            </a:r>
            <a:r>
              <a:rPr lang="fr-FR" sz="1600">
                <a:solidFill>
                  <a:schemeClr val="bg1"/>
                </a:solidFill>
                <a:ea typeface="+mn-lt"/>
                <a:cs typeface="+mn-lt"/>
              </a:rPr>
              <a:t>automatique vers l’</a:t>
            </a:r>
            <a:r>
              <a:rPr lang="fr-FR" sz="1600" err="1">
                <a:solidFill>
                  <a:schemeClr val="bg1"/>
                </a:solidFill>
                <a:ea typeface="+mn-lt"/>
                <a:cs typeface="+mn-lt"/>
              </a:rPr>
              <a:t>Idle</a:t>
            </a:r>
            <a:endParaRPr lang="fr-FR" sz="1600">
              <a:solidFill>
                <a:schemeClr val="bg1"/>
              </a:solidFill>
              <a:latin typeface="Calibri Light"/>
              <a:ea typeface="Calibri Light"/>
              <a:cs typeface="Calibri Light"/>
            </a:endParaRPr>
          </a:p>
          <a:p>
            <a:pPr marL="285750" indent="-285750" algn="l">
              <a:buFont typeface="Wingdings"/>
              <a:buChar char="v"/>
            </a:pPr>
            <a:r>
              <a:rPr lang="fr-FR" sz="1600" b="1">
                <a:latin typeface="Calibri"/>
                <a:ea typeface="Calibri Light"/>
                <a:cs typeface="Calibri Light"/>
              </a:rPr>
              <a:t>Fonction du chat dans la scène</a:t>
            </a:r>
            <a:endParaRPr lang="fr-FR" sz="1600" b="1">
              <a:latin typeface="Calibri"/>
              <a:ea typeface="Calibri"/>
              <a:cs typeface="Calibri"/>
            </a:endParaRPr>
          </a:p>
          <a:p>
            <a:pPr marL="971550" lvl="1" indent="-285750">
              <a:buFont typeface="Wingdings"/>
              <a:buChar char="ü"/>
            </a:pP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Le chat marche automatiquement vers sa destination</a:t>
            </a:r>
            <a:endParaRPr lang="fr-FR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971550" lvl="1" indent="-285750" algn="l">
              <a:buFont typeface="Wingdings"/>
              <a:buChar char="ü"/>
            </a:pP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Il pousse la balle avec sa patte grâce à une détection de proximité</a:t>
            </a:r>
            <a:endParaRPr lang="fr-FR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971550" lvl="1" indent="-285750" algn="l">
              <a:buFont typeface="Wingdings"/>
              <a:buChar char="ü"/>
            </a:pP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Cela déclenche le mouvement physique de la balle </a:t>
            </a:r>
            <a:endParaRPr lang="fr-FR" sz="1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5750" indent="-285750" algn="l">
              <a:buFont typeface="Wingdings"/>
              <a:buChar char="v"/>
            </a:pPr>
            <a:r>
              <a:rPr lang="fr-FR" sz="1600" b="1">
                <a:latin typeface="Calibri"/>
                <a:ea typeface="Calibri Light"/>
                <a:cs typeface="Calibri Light"/>
              </a:rPr>
              <a:t>Script C# :</a:t>
            </a:r>
            <a:endParaRPr lang="fr-FR" sz="1600" b="1">
              <a:latin typeface="Calibri"/>
              <a:ea typeface="Calibri"/>
              <a:cs typeface="Calibri"/>
            </a:endParaRPr>
          </a:p>
          <a:p>
            <a:pPr algn="l"/>
            <a:r>
              <a:rPr lang="fr-FR">
                <a:latin typeface="Calibri"/>
                <a:ea typeface="Calibri Light"/>
                <a:cs typeface="Calibri Light"/>
              </a:rPr>
              <a:t>     - </a:t>
            </a:r>
            <a:r>
              <a:rPr lang="fr-FR" sz="1400" b="1" err="1">
                <a:latin typeface="Calibri"/>
                <a:ea typeface="Calibri Light"/>
                <a:cs typeface="Calibri Light"/>
              </a:rPr>
              <a:t>MoveToPoint</a:t>
            </a:r>
            <a:r>
              <a:rPr lang="fr-FR" sz="1400" b="1">
                <a:latin typeface="Calibri"/>
                <a:ea typeface="Calibri Light"/>
                <a:cs typeface="Calibri Light"/>
              </a:rPr>
              <a:t>() </a:t>
            </a:r>
            <a:r>
              <a:rPr lang="fr-FR" sz="1400">
                <a:latin typeface="Calibri"/>
                <a:ea typeface="Calibri Light"/>
                <a:cs typeface="Calibri Light"/>
              </a:rPr>
              <a:t>:</a:t>
            </a:r>
            <a:r>
              <a:rPr lang="fr-FR">
                <a:latin typeface="Calibri"/>
                <a:ea typeface="Calibri Light"/>
                <a:cs typeface="Calibri Light"/>
              </a:rPr>
              <a:t>  - </a:t>
            </a:r>
            <a:r>
              <a:rPr lang="fr-FR" sz="1400">
                <a:latin typeface="Calibri"/>
                <a:ea typeface="Calibri Light"/>
                <a:cs typeface="Calibri Light"/>
              </a:rPr>
              <a:t>Déplacement progressif via Vector3.</a:t>
            </a:r>
            <a:r>
              <a:rPr lang="fr-FR">
                <a:latin typeface="Calibri"/>
                <a:ea typeface="Calibri Light"/>
                <a:cs typeface="Calibri Light"/>
              </a:rPr>
              <a:t>MoveTowards</a:t>
            </a:r>
            <a:endParaRPr lang="fr-FR">
              <a:latin typeface="Daytona Pro Light"/>
              <a:ea typeface="Calibri Light"/>
              <a:cs typeface="Calibri Light"/>
            </a:endParaRPr>
          </a:p>
          <a:p>
            <a:pPr algn="l"/>
            <a:r>
              <a:rPr lang="fr-FR">
                <a:latin typeface="Calibri"/>
                <a:ea typeface="Calibri Light"/>
                <a:cs typeface="Calibri Light"/>
              </a:rPr>
              <a:t>                                      - Rotation</a:t>
            </a:r>
            <a:r>
              <a:rPr lang="fr-FR" sz="1400">
                <a:latin typeface="Calibri"/>
                <a:ea typeface="Calibri Light"/>
                <a:cs typeface="Calibri Light"/>
              </a:rPr>
              <a:t> douce avec </a:t>
            </a:r>
            <a:r>
              <a:rPr lang="fr-FR" sz="1400" err="1">
                <a:latin typeface="Calibri"/>
                <a:ea typeface="Calibri Light"/>
                <a:cs typeface="Calibri Light"/>
              </a:rPr>
              <a:t>Quaternion.</a:t>
            </a:r>
            <a:r>
              <a:rPr lang="fr-FR" err="1">
                <a:latin typeface="Calibri"/>
                <a:ea typeface="Calibri Light"/>
                <a:cs typeface="Calibri Light"/>
              </a:rPr>
              <a:t>Slerp</a:t>
            </a:r>
            <a:endParaRPr lang="fr-FR" err="1">
              <a:latin typeface="Calibri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fr-FR">
              <a:latin typeface="Calibri"/>
              <a:ea typeface="Calibri Light"/>
              <a:cs typeface="Calibri Light"/>
            </a:endParaRPr>
          </a:p>
          <a:p>
            <a:pPr algn="l"/>
            <a:r>
              <a:rPr lang="fr-FR">
                <a:latin typeface="Calibri"/>
                <a:ea typeface="Calibri Light"/>
                <a:cs typeface="Calibri Light"/>
              </a:rPr>
              <a:t>      -</a:t>
            </a:r>
            <a:r>
              <a:rPr lang="fr-FR" b="1">
                <a:latin typeface="Calibri"/>
                <a:ea typeface="Calibri Light"/>
                <a:cs typeface="Calibri Light"/>
              </a:rPr>
              <a:t>  </a:t>
            </a:r>
            <a:r>
              <a:rPr lang="fr-FR" b="1" err="1">
                <a:latin typeface="Calibri"/>
                <a:ea typeface="Calibri Light"/>
                <a:cs typeface="Calibri Light"/>
              </a:rPr>
              <a:t>HandleBallHit</a:t>
            </a:r>
            <a:r>
              <a:rPr lang="fr-FR" sz="1400" b="1">
                <a:latin typeface="Calibri"/>
                <a:ea typeface="Calibri Light"/>
                <a:cs typeface="Calibri Light"/>
              </a:rPr>
              <a:t>() :</a:t>
            </a:r>
            <a:r>
              <a:rPr lang="fr-FR">
                <a:latin typeface="Calibri"/>
                <a:ea typeface="Calibri Light"/>
                <a:cs typeface="Calibri Light"/>
              </a:rPr>
              <a:t> - </a:t>
            </a:r>
            <a:r>
              <a:rPr lang="fr-FR" sz="1400">
                <a:latin typeface="Calibri"/>
                <a:ea typeface="Calibri Light"/>
                <a:cs typeface="Calibri Light"/>
              </a:rPr>
              <a:t>Calcul de distance patte ↔ balle </a:t>
            </a:r>
          </a:p>
          <a:p>
            <a:pPr lvl="1" indent="0">
              <a:buNone/>
            </a:pP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                      - Application d’un </a:t>
            </a:r>
            <a:r>
              <a:rPr lang="fr-FR" sz="1400" err="1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AddForce</a:t>
            </a: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(</a:t>
            </a:r>
            <a:r>
              <a:rPr lang="fr-FR" sz="1400" err="1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ForceMode.Impulse</a:t>
            </a: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) quand la patte est proche</a:t>
            </a:r>
            <a:endParaRPr lang="fr-FR">
              <a:solidFill>
                <a:schemeClr val="bg1"/>
              </a:solidFill>
              <a:latin typeface="Daytona Pro Light"/>
              <a:ea typeface="Calibri Light"/>
              <a:cs typeface="Calibri Light"/>
            </a:endParaRPr>
          </a:p>
          <a:p>
            <a:pPr lvl="1" indent="0">
              <a:buNone/>
            </a:pPr>
            <a:endParaRPr lang="fr-FR" sz="1400">
              <a:solidFill>
                <a:schemeClr val="bg1"/>
              </a:solidFill>
              <a:latin typeface="Calibri"/>
              <a:ea typeface="Calibri Light"/>
              <a:cs typeface="Calibri Light"/>
            </a:endParaRPr>
          </a:p>
          <a:p>
            <a:pPr lvl="1" indent="0">
              <a:buNone/>
            </a:pPr>
            <a:r>
              <a:rPr lang="fr-FR" sz="1400" b="1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 Animation </a:t>
            </a: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: -  Activation automatique de </a:t>
            </a:r>
            <a:r>
              <a:rPr lang="fr-FR" sz="1400" err="1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isWalking</a:t>
            </a: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 au début</a:t>
            </a:r>
            <a:endParaRPr lang="fr-FR">
              <a:solidFill>
                <a:schemeClr val="bg1"/>
              </a:solidFill>
            </a:endParaRPr>
          </a:p>
          <a:p>
            <a:pPr lvl="1" indent="0">
              <a:buNone/>
            </a:pPr>
            <a:r>
              <a:rPr lang="fr-FR" sz="1400">
                <a:solidFill>
                  <a:schemeClr val="bg1"/>
                </a:solidFill>
                <a:latin typeface="Calibri"/>
                <a:ea typeface="Calibri Light"/>
                <a:cs typeface="Calibri Light"/>
              </a:rPr>
              <a:t>                        - Passage vers Idle quand la cible est atteinte</a:t>
            </a:r>
            <a:endParaRPr lang="fr-FR">
              <a:solidFill>
                <a:schemeClr val="bg1"/>
              </a:solidFill>
            </a:endParaRPr>
          </a:p>
          <a:p>
            <a:pPr algn="l"/>
            <a:endParaRPr lang="fr-FR" sz="1100">
              <a:ea typeface="Calibri Light"/>
              <a:cs typeface="Calibri Ligh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23EF9B-60CF-979D-6561-EC777197B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492" y="2334927"/>
            <a:ext cx="3694235" cy="283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26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re 45">
            <a:extLst>
              <a:ext uri="{FF2B5EF4-FFF2-40B4-BE49-F238E27FC236}">
                <a16:creationId xmlns:a16="http://schemas.microsoft.com/office/drawing/2014/main" id="{33E47C41-D39A-4245-A7A3-ED0AB850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4563" y="354732"/>
            <a:ext cx="6541438" cy="991689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>
                <a:latin typeface="Century Gothic"/>
              </a:rPr>
              <a:t>Physique de la balle</a:t>
            </a:r>
          </a:p>
        </p:txBody>
      </p:sp>
      <p:sp>
        <p:nvSpPr>
          <p:cNvPr id="24" name="Espace réservé du texte 23">
            <a:extLst>
              <a:ext uri="{FF2B5EF4-FFF2-40B4-BE49-F238E27FC236}">
                <a16:creationId xmlns:a16="http://schemas.microsoft.com/office/drawing/2014/main" id="{3686A163-9DC0-4062-B9F2-7356DCF3AE6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50413" y="1857442"/>
            <a:ext cx="8197576" cy="4047645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 b="1">
                <a:latin typeface="Calibri Light"/>
                <a:ea typeface="Calibri Light"/>
                <a:cs typeface="Calibri Light"/>
              </a:rPr>
              <a:t>Création de la balle souple</a:t>
            </a:r>
            <a:endParaRPr lang="fr-FR">
              <a:latin typeface="Calibri Light"/>
            </a:endParaRPr>
          </a:p>
          <a:p>
            <a:pPr marL="285750" indent="-285750">
              <a:buFont typeface="Wingdings"/>
              <a:buChar char="Ø"/>
            </a:pPr>
            <a:r>
              <a:rPr lang="fr-FR">
                <a:latin typeface="Calibri Light"/>
                <a:ea typeface="Calibri Light"/>
                <a:cs typeface="Calibri Light"/>
              </a:rPr>
              <a:t>Sphère générée avec </a:t>
            </a:r>
            <a:r>
              <a:rPr lang="fr-FR" b="1" err="1">
                <a:latin typeface="Calibri Light"/>
                <a:ea typeface="Calibri Light"/>
                <a:cs typeface="Calibri Light"/>
              </a:rPr>
              <a:t>ProBuilder</a:t>
            </a:r>
            <a:r>
              <a:rPr lang="fr-FR">
                <a:latin typeface="Calibri Light"/>
                <a:ea typeface="Calibri Light"/>
                <a:cs typeface="Calibri Light"/>
              </a:rPr>
              <a:t> (high poly, 4 subdivisions).</a:t>
            </a:r>
            <a:endParaRPr lang="fr-FR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/>
              <a:buChar char="Ø"/>
            </a:pPr>
            <a:r>
              <a:rPr lang="fr-FR">
                <a:latin typeface="Calibri Light"/>
                <a:ea typeface="Calibri Light"/>
                <a:cs typeface="Calibri Light"/>
              </a:rPr>
              <a:t>Ajout d’un </a:t>
            </a:r>
            <a:r>
              <a:rPr lang="fr-FR" b="1" err="1">
                <a:latin typeface="Calibri Light"/>
                <a:ea typeface="Calibri Light"/>
                <a:cs typeface="Calibri Light"/>
              </a:rPr>
              <a:t>Rigidbody</a:t>
            </a:r>
            <a:r>
              <a:rPr lang="fr-FR">
                <a:latin typeface="Calibri Light"/>
                <a:ea typeface="Calibri Light"/>
                <a:cs typeface="Calibri Light"/>
              </a:rPr>
              <a:t> (</a:t>
            </a:r>
            <a:r>
              <a:rPr lang="fr-FR" err="1">
                <a:latin typeface="Calibri Light"/>
                <a:ea typeface="Calibri Light"/>
                <a:cs typeface="Calibri Light"/>
              </a:rPr>
              <a:t>Interpolate</a:t>
            </a:r>
            <a:r>
              <a:rPr lang="fr-FR">
                <a:latin typeface="Calibri Light"/>
                <a:ea typeface="Calibri Light"/>
                <a:cs typeface="Calibri Light"/>
              </a:rPr>
              <a:t> + </a:t>
            </a:r>
            <a:r>
              <a:rPr lang="fr-FR" err="1">
                <a:latin typeface="Calibri Light"/>
                <a:ea typeface="Calibri Light"/>
                <a:cs typeface="Calibri Light"/>
              </a:rPr>
              <a:t>Continuous</a:t>
            </a:r>
            <a:r>
              <a:rPr lang="fr-FR">
                <a:latin typeface="Calibri Light"/>
                <a:ea typeface="Calibri Light"/>
                <a:cs typeface="Calibri Light"/>
              </a:rPr>
              <a:t> </a:t>
            </a:r>
            <a:r>
              <a:rPr lang="fr-FR" err="1">
                <a:latin typeface="Calibri Light"/>
                <a:ea typeface="Calibri Light"/>
                <a:cs typeface="Calibri Light"/>
              </a:rPr>
              <a:t>Detection</a:t>
            </a:r>
            <a:r>
              <a:rPr lang="fr-FR">
                <a:latin typeface="Calibri Light"/>
                <a:ea typeface="Calibri Light"/>
                <a:cs typeface="Calibri Light"/>
              </a:rPr>
              <a:t>) pour une physique stable.</a:t>
            </a:r>
            <a:endParaRPr lang="fr-FR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/>
              <a:buChar char="Ø"/>
            </a:pPr>
            <a:r>
              <a:rPr lang="fr-FR">
                <a:latin typeface="Calibri Light"/>
                <a:ea typeface="Calibri Light"/>
                <a:cs typeface="Calibri Light"/>
              </a:rPr>
              <a:t>Application d’un </a:t>
            </a:r>
            <a:r>
              <a:rPr lang="fr-FR" b="1" err="1">
                <a:latin typeface="Calibri Light"/>
                <a:ea typeface="Calibri Light"/>
                <a:cs typeface="Calibri Light"/>
              </a:rPr>
              <a:t>Physics</a:t>
            </a:r>
            <a:r>
              <a:rPr lang="fr-FR" b="1">
                <a:latin typeface="Calibri Light"/>
                <a:ea typeface="Calibri Light"/>
                <a:cs typeface="Calibri Light"/>
              </a:rPr>
              <a:t> </a:t>
            </a:r>
            <a:r>
              <a:rPr lang="fr-FR" b="1" err="1">
                <a:latin typeface="Calibri Light"/>
                <a:ea typeface="Calibri Light"/>
                <a:cs typeface="Calibri Light"/>
              </a:rPr>
              <a:t>Material</a:t>
            </a:r>
            <a:r>
              <a:rPr lang="fr-FR">
                <a:latin typeface="Calibri Light"/>
                <a:ea typeface="Calibri Light"/>
                <a:cs typeface="Calibri Light"/>
              </a:rPr>
              <a:t> pour obtenir un léger rebond.</a:t>
            </a:r>
            <a:endParaRPr lang="fr-FR"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Wingdings"/>
              <a:buChar char="Ø"/>
            </a:pPr>
            <a:endParaRPr lang="fr-FR">
              <a:ea typeface="Calibri Light"/>
              <a:cs typeface="Calibri Light"/>
            </a:endParaRPr>
          </a:p>
          <a:p>
            <a:r>
              <a:rPr lang="fr-FR" b="1">
                <a:latin typeface="Calibri Light"/>
                <a:ea typeface="Calibri Light"/>
                <a:cs typeface="Calibri Light"/>
              </a:rPr>
              <a:t>Déformation à l’impact</a:t>
            </a:r>
            <a:endParaRPr lang="fr-FR">
              <a:latin typeface="Calibri Light"/>
            </a:endParaRPr>
          </a:p>
          <a:p>
            <a:r>
              <a:rPr lang="fr-FR" err="1">
                <a:latin typeface="Calibri Light"/>
                <a:ea typeface="Calibri Light"/>
                <a:cs typeface="Calibri Light"/>
              </a:rPr>
              <a:t>Unity</a:t>
            </a:r>
            <a:r>
              <a:rPr lang="fr-FR">
                <a:latin typeface="Calibri Light"/>
                <a:ea typeface="Calibri Light"/>
                <a:cs typeface="Calibri Light"/>
              </a:rPr>
              <a:t> ne gérant pas nativement la déformation, un script C# personnalisé a été développé pour :</a:t>
            </a:r>
          </a:p>
          <a:p>
            <a:pPr marL="285750" lvl="1" indent="-285750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20B0604020202020204" pitchFamily="34" charset="0"/>
              <a:buChar char="Ø"/>
            </a:pPr>
            <a:r>
              <a:rPr lang="fr-FR" sz="14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détecte la force et la position de chaque collision,</a:t>
            </a:r>
          </a:p>
          <a:p>
            <a:pPr marL="285750" lvl="1" indent="-285750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20B0604020202020204" pitchFamily="34" charset="0"/>
              <a:buChar char="Ø"/>
            </a:pPr>
            <a:r>
              <a:rPr lang="fr-FR" sz="14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identifie les </a:t>
            </a:r>
            <a:r>
              <a:rPr lang="fr-FR" sz="140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vertices</a:t>
            </a:r>
            <a:r>
              <a:rPr lang="fr-FR" sz="14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 proches de l’impact,</a:t>
            </a:r>
          </a:p>
          <a:p>
            <a:pPr marL="285750" lvl="1" indent="-285750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Wingdings" panose="020B0604020202020204" pitchFamily="34" charset="0"/>
              <a:buChar char="Ø"/>
            </a:pPr>
            <a:r>
              <a:rPr lang="fr-FR" sz="14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déplace ces </a:t>
            </a:r>
            <a:r>
              <a:rPr lang="fr-FR" sz="1400" err="1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vertices</a:t>
            </a:r>
            <a:r>
              <a:rPr lang="fr-FR" sz="1400">
                <a:solidFill>
                  <a:schemeClr val="bg1"/>
                </a:solidFill>
                <a:latin typeface="Calibri Light"/>
                <a:ea typeface="Calibri Light"/>
                <a:cs typeface="Calibri Light"/>
              </a:rPr>
              <a:t> dans le sens opposé au choc.</a:t>
            </a:r>
          </a:p>
          <a:p>
            <a:pPr marL="285750" indent="-285750">
              <a:buFont typeface="Wingdings" panose="02070309020205020404" pitchFamily="49" charset="0"/>
              <a:buChar char="Ø"/>
            </a:pPr>
            <a:r>
              <a:rPr lang="fr-FR">
                <a:latin typeface="Calibri Light"/>
                <a:ea typeface="Calibri Light"/>
                <a:cs typeface="Calibri Light"/>
              </a:rPr>
              <a:t>Utilisation d’un ratio de Poisson pour conserver le volume de la balle.</a:t>
            </a:r>
          </a:p>
          <a:p>
            <a:pPr marL="285750" indent="-285750">
              <a:buFont typeface="Wingdings" panose="02070309020205020404" pitchFamily="49" charset="0"/>
              <a:buChar char="Ø"/>
            </a:pPr>
            <a:r>
              <a:rPr lang="fr-FR">
                <a:latin typeface="Calibri Light"/>
                <a:ea typeface="Calibri Light"/>
                <a:cs typeface="Calibri Light"/>
              </a:rPr>
              <a:t>Retour progressif à la forme initiale grâce à une interpolation (</a:t>
            </a:r>
            <a:r>
              <a:rPr lang="fr-FR" err="1">
                <a:latin typeface="Calibri Light"/>
                <a:ea typeface="Calibri Light"/>
                <a:cs typeface="Calibri Light"/>
              </a:rPr>
              <a:t>Lerp</a:t>
            </a:r>
            <a:r>
              <a:rPr lang="fr-FR">
                <a:latin typeface="Calibri Light"/>
                <a:ea typeface="Calibri Light"/>
                <a:cs typeface="Calibri Light"/>
              </a:rPr>
              <a:t>).</a:t>
            </a:r>
          </a:p>
          <a:p>
            <a:pPr marL="285750" indent="-285750">
              <a:buFont typeface="Wingdings" panose="02070309020205020404" pitchFamily="49" charset="0"/>
              <a:buChar char="Ø"/>
            </a:pPr>
            <a:endParaRPr lang="fr-FR">
              <a:ea typeface="Calibri Light"/>
              <a:cs typeface="Calibri Light"/>
            </a:endParaRPr>
          </a:p>
          <a:p>
            <a:r>
              <a:rPr lang="fr-FR">
                <a:latin typeface="Calibri Light"/>
                <a:ea typeface="Calibri Light"/>
                <a:cs typeface="Calibri Light"/>
              </a:rPr>
              <a:t>--&gt; Balle qui se </a:t>
            </a:r>
            <a:r>
              <a:rPr lang="fr-FR" b="1">
                <a:latin typeface="Calibri Light"/>
                <a:ea typeface="Calibri Light"/>
                <a:cs typeface="Calibri Light"/>
              </a:rPr>
              <a:t>déforme au sol</a:t>
            </a:r>
            <a:r>
              <a:rPr lang="fr-FR">
                <a:latin typeface="Calibri Light"/>
                <a:ea typeface="Calibri Light"/>
                <a:cs typeface="Calibri Light"/>
              </a:rPr>
              <a:t>, puis reprend sa forme de manière </a:t>
            </a:r>
            <a:r>
              <a:rPr lang="fr-FR" b="1">
                <a:latin typeface="Calibri Light"/>
                <a:ea typeface="Calibri Light"/>
                <a:cs typeface="Calibri Light"/>
              </a:rPr>
              <a:t>progressive et réaliste</a:t>
            </a:r>
            <a:r>
              <a:rPr lang="fr-FR">
                <a:latin typeface="Calibri Light"/>
                <a:ea typeface="Calibri Light"/>
                <a:cs typeface="Calibri Light"/>
              </a:rPr>
              <a:t>.</a:t>
            </a:r>
          </a:p>
          <a:p>
            <a:pPr marL="285750" indent="-285750">
              <a:buFont typeface="Wingdings" panose="02070309020205020404" pitchFamily="49" charset="0"/>
              <a:buChar char="Ø"/>
            </a:pPr>
            <a:endParaRPr lang="fr-FR">
              <a:ea typeface="Calibri Light"/>
              <a:cs typeface="Calibri Light"/>
            </a:endParaRPr>
          </a:p>
          <a:p>
            <a:endParaRPr lang="fr-FR">
              <a:ea typeface="Calibri Light"/>
              <a:cs typeface="Calibri Ligh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C8FE775-5778-1CCE-81BE-3246E18E0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767" y="1107017"/>
            <a:ext cx="3162301" cy="2644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1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7BC060-69FE-9E79-87B8-BE7A779EDF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4987925" cy="5068887"/>
          </a:xfrm>
        </p:spPr>
        <p:txBody>
          <a:bodyPr lIns="91440" tIns="45720" rIns="91440" bIns="45720" rtlCol="0" anchor="t"/>
          <a:lstStyle/>
          <a:p>
            <a:pPr marL="0" indent="0">
              <a:buNone/>
            </a:pPr>
            <a:endParaRPr lang="fr-CA" sz="1400">
              <a:latin typeface="Calibri Light"/>
              <a:ea typeface="Calibri Light"/>
              <a:cs typeface="Calibri Light"/>
            </a:endParaRPr>
          </a:p>
          <a:p>
            <a:pPr marL="0" indent="0">
              <a:buNone/>
            </a:pPr>
            <a:endParaRPr lang="fr-CA" sz="1400">
              <a:latin typeface="Calibri Light"/>
              <a:ea typeface="Calibri Light"/>
              <a:cs typeface="Calibri Light"/>
            </a:endParaRPr>
          </a:p>
          <a:p>
            <a:pPr marL="0" indent="0" algn="l">
              <a:buNone/>
            </a:pPr>
            <a:r>
              <a:rPr lang="fr-CA" sz="1400">
                <a:latin typeface="Calibri Light"/>
                <a:ea typeface="Calibri Light"/>
                <a:cs typeface="Calibri Light"/>
              </a:rPr>
              <a:t>Pour assurer une interaction physique réaliste dans la scène, nous avons ajouté des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Rigidbodies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et des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Colliders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aux objets lorsque nécessaire:</a:t>
            </a:r>
            <a:endParaRPr lang="fr-FR">
              <a:ea typeface="Calibri Light"/>
              <a:cs typeface="Calibri Light"/>
            </a:endParaRPr>
          </a:p>
          <a:p>
            <a:pPr marL="285750" indent="-285750" algn="l">
              <a:buChar char="•"/>
            </a:pPr>
            <a:r>
              <a:rPr lang="fr-CA" sz="1400">
                <a:latin typeface="Calibri Light"/>
                <a:ea typeface="Calibri Light"/>
                <a:cs typeface="Calibri Light"/>
              </a:rPr>
              <a:t>Nous avons attribué un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Rigidbody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aux objets qui devaient réagir à la gravité ou aux forces physiques .</a:t>
            </a:r>
          </a:p>
          <a:p>
            <a:pPr marL="285750" indent="-285750" algn="l">
              <a:buChar char="•"/>
            </a:pPr>
            <a:r>
              <a:rPr lang="fr-CA" sz="1400">
                <a:latin typeface="Calibri Light"/>
                <a:ea typeface="Calibri Light"/>
                <a:cs typeface="Calibri Light"/>
              </a:rPr>
              <a:t>Nous avons placé des Box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Colliders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ou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Mesh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Colliders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sur les objets statiques (table, murs, meubles) afin d’assurer des collisions précises sans alourdir la simulation.</a:t>
            </a:r>
          </a:p>
          <a:p>
            <a:pPr marL="285750" indent="-285750" algn="l">
              <a:buChar char="•"/>
            </a:pPr>
            <a:r>
              <a:rPr lang="fr-CA" sz="1400">
                <a:latin typeface="Calibri Light"/>
                <a:ea typeface="Calibri Light"/>
                <a:cs typeface="Calibri Light"/>
              </a:rPr>
              <a:t>Lorsque la géométrie était simple, nous avons privilégié le Box </a:t>
            </a:r>
            <a:r>
              <a:rPr lang="fr-CA" sz="1400" err="1">
                <a:latin typeface="Calibri Light"/>
                <a:ea typeface="Calibri Light"/>
                <a:cs typeface="Calibri Light"/>
              </a:rPr>
              <a:t>Collider</a:t>
            </a:r>
            <a:r>
              <a:rPr lang="fr-CA" sz="1400">
                <a:latin typeface="Calibri Light"/>
                <a:ea typeface="Calibri Light"/>
                <a:cs typeface="Calibri Light"/>
              </a:rPr>
              <a:t> pour optimiser la performance.</a:t>
            </a:r>
          </a:p>
          <a:p>
            <a:pPr algn="l"/>
            <a:endParaRPr lang="fr-CA" sz="1400">
              <a:latin typeface="Calibri Light"/>
              <a:ea typeface="Calibri Light"/>
              <a:cs typeface="Calibri Light"/>
            </a:endParaRPr>
          </a:p>
          <a:p>
            <a:pPr marL="0" indent="0" algn="l">
              <a:buNone/>
            </a:pPr>
            <a:r>
              <a:rPr lang="fr-CA" sz="1400">
                <a:latin typeface="Calibri Light"/>
                <a:ea typeface="Calibri Light"/>
                <a:cs typeface="Calibri Light"/>
              </a:rPr>
              <a:t>Cette configuration nous a permis de garantir que chaque objet réagissait correctement lorsqu’il tombait, roulait ou entrait en contact avec un autre élément de la scène.</a:t>
            </a:r>
          </a:p>
          <a:p>
            <a:pPr algn="l"/>
            <a:endParaRPr lang="fr-CA" sz="1400">
              <a:ea typeface="Calibri Light"/>
              <a:cs typeface="Calibri Light"/>
            </a:endParaRPr>
          </a:p>
        </p:txBody>
      </p:sp>
      <p:sp>
        <p:nvSpPr>
          <p:cNvPr id="24" name="Titre 45">
            <a:extLst>
              <a:ext uri="{FF2B5EF4-FFF2-40B4-BE49-F238E27FC236}">
                <a16:creationId xmlns:a16="http://schemas.microsoft.com/office/drawing/2014/main" id="{3FB8F60E-D13E-5510-DBCD-A268E27AD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219" y="829082"/>
            <a:ext cx="6541438" cy="991689"/>
          </a:xfrm>
        </p:spPr>
        <p:txBody>
          <a:bodyPr lIns="91440" tIns="45720" rIns="91440" bIns="45720" rtlCol="0" anchor="t"/>
          <a:lstStyle>
            <a:defPPr>
              <a:defRPr lang="en-US"/>
            </a:defPPr>
          </a:lstStyle>
          <a:p>
            <a:r>
              <a:rPr lang="fr-FR">
                <a:latin typeface="Century Gothic"/>
              </a:rPr>
              <a:t>Interaction Physique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D0C379E-DC67-0305-2CB0-684269431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690" y="2007659"/>
            <a:ext cx="4846189" cy="283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1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0" y="563671"/>
            <a:ext cx="4989629" cy="2387771"/>
          </a:xfrm>
        </p:spPr>
        <p:txBody>
          <a:bodyPr rtlCol="0"/>
          <a:lstStyle>
            <a:defPPr>
              <a:defRPr lang="en-US"/>
            </a:defPPr>
          </a:lstStyle>
          <a:p>
            <a:pPr rtl="0"/>
            <a:r>
              <a:rPr lang="fr-FR"/>
              <a:t>Merci </a:t>
            </a:r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B034D-ACEF-4C52-A048-622E130B9A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089DF1-5746-46EC-AE4D-E0FEEFA364E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8D07AFA-56ED-494E-AC96-7D874BD7F8D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TM56488565</Template>
  <Application>Microsoft Office PowerPoint</Application>
  <PresentationFormat>Grand écran</PresentationFormat>
  <Slides>11</Slides>
  <Notes>8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Thème Office</vt:lpstr>
      <vt:lpstr>Challenge de rendu et de dynamique physique</vt:lpstr>
      <vt:lpstr>Introduction</vt:lpstr>
      <vt:lpstr>Description générale de la scène </vt:lpstr>
      <vt:lpstr>Présentation PowerPoint</vt:lpstr>
      <vt:lpstr>Modélisation des objets</vt:lpstr>
      <vt:lpstr>Éclairage et ambiance</vt:lpstr>
      <vt:lpstr>Caméra et composition</vt:lpstr>
      <vt:lpstr>Animation du chat</vt:lpstr>
      <vt:lpstr>Physique de la balle</vt:lpstr>
      <vt:lpstr>Interaction Physique</vt:lpstr>
      <vt:lpstr>Merci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2025-12-07T18:12:34Z</dcterms:created>
  <dcterms:modified xsi:type="dcterms:W3CDTF">2025-12-09T03:24:31Z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0689301-32b1-463b-ba86-10202492460a_Enabled">
    <vt:lpwstr>true</vt:lpwstr>
  </property>
  <property fmtid="{D5CDD505-2E9C-101B-9397-08002B2CF9AE}" pid="4" name="MSIP_Label_d0689301-32b1-463b-ba86-10202492460a_SetDate">
    <vt:lpwstr>2025-12-07T18:12:41Z</vt:lpwstr>
  </property>
  <property fmtid="{D5CDD505-2E9C-101B-9397-08002B2CF9AE}" pid="5" name="MSIP_Label_d0689301-32b1-463b-ba86-10202492460a_Method">
    <vt:lpwstr>Standard</vt:lpwstr>
  </property>
  <property fmtid="{D5CDD505-2E9C-101B-9397-08002B2CF9AE}" pid="6" name="MSIP_Label_d0689301-32b1-463b-ba86-10202492460a_Name">
    <vt:lpwstr>defa4170-0d19-0005-0003-bc88714345d2</vt:lpwstr>
  </property>
  <property fmtid="{D5CDD505-2E9C-101B-9397-08002B2CF9AE}" pid="7" name="MSIP_Label_d0689301-32b1-463b-ba86-10202492460a_SiteId">
    <vt:lpwstr>810c295f-e817-4c4e-8996-9b66369b8012</vt:lpwstr>
  </property>
  <property fmtid="{D5CDD505-2E9C-101B-9397-08002B2CF9AE}" pid="8" name="MSIP_Label_d0689301-32b1-463b-ba86-10202492460a_ActionId">
    <vt:lpwstr>83273093-560f-4cbf-83f2-986cb375c60f</vt:lpwstr>
  </property>
  <property fmtid="{D5CDD505-2E9C-101B-9397-08002B2CF9AE}" pid="9" name="MSIP_Label_d0689301-32b1-463b-ba86-10202492460a_ContentBits">
    <vt:lpwstr>0</vt:lpwstr>
  </property>
  <property fmtid="{D5CDD505-2E9C-101B-9397-08002B2CF9AE}" pid="10" name="MSIP_Label_d0689301-32b1-463b-ba86-10202492460a_Tag">
    <vt:lpwstr>10, 3, 0, 2</vt:lpwstr>
  </property>
</Properties>
</file>